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9" r:id="rId5"/>
    <p:sldId id="261" r:id="rId6"/>
    <p:sldId id="297" r:id="rId7"/>
    <p:sldId id="290" r:id="rId8"/>
    <p:sldId id="294" r:id="rId9"/>
    <p:sldId id="292" r:id="rId10"/>
    <p:sldId id="295" r:id="rId11"/>
    <p:sldId id="293" r:id="rId12"/>
    <p:sldId id="296" r:id="rId13"/>
    <p:sldId id="298" r:id="rId14"/>
    <p:sldId id="299" r:id="rId15"/>
    <p:sldId id="289" r:id="rId16"/>
  </p:sldIdLst>
  <p:sldSz cx="12192000" cy="6858000"/>
  <p:notesSz cx="6858000" cy="9144000"/>
  <p:defaultTextStyle>
    <a:defPPr>
      <a:defRPr lang="de-DE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D3"/>
    <a:srgbClr val="A52A2A"/>
    <a:srgbClr val="C0C0F3"/>
    <a:srgbClr val="B1B1F0"/>
    <a:srgbClr val="009FE3"/>
    <a:srgbClr val="008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95C889-73EB-4568-AE35-32D10A6D70D8}" v="1" dt="2025-10-27T11:21:55.863"/>
    <p1510:client id="{DD6428CE-6D1C-4A2E-B976-C6D70F9B40FF}" v="22" dt="2025-10-27T08:49:12.6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BZW;FMZ; Wicki Michael (Lehrperson)" userId="S::michael.wicki@sluz.ch::3f751286-0333-4a5b-a1bf-0c4eee9565b5" providerId="AD" clId="Web-{DD6428CE-6D1C-4A2E-B976-C6D70F9B40FF}"/>
    <pc:docChg chg="modSld">
      <pc:chgData name="BBZW;FMZ; Wicki Michael (Lehrperson)" userId="S::michael.wicki@sluz.ch::3f751286-0333-4a5b-a1bf-0c4eee9565b5" providerId="AD" clId="Web-{DD6428CE-6D1C-4A2E-B976-C6D70F9B40FF}" dt="2025-10-27T08:49:12.627" v="21" actId="20577"/>
      <pc:docMkLst>
        <pc:docMk/>
      </pc:docMkLst>
      <pc:sldChg chg="modSp">
        <pc:chgData name="BBZW;FMZ; Wicki Michael (Lehrperson)" userId="S::michael.wicki@sluz.ch::3f751286-0333-4a5b-a1bf-0c4eee9565b5" providerId="AD" clId="Web-{DD6428CE-6D1C-4A2E-B976-C6D70F9B40FF}" dt="2025-10-27T08:49:12.627" v="21" actId="20577"/>
        <pc:sldMkLst>
          <pc:docMk/>
          <pc:sldMk cId="3606767413" sldId="289"/>
        </pc:sldMkLst>
        <pc:spChg chg="mod">
          <ac:chgData name="BBZW;FMZ; Wicki Michael (Lehrperson)" userId="S::michael.wicki@sluz.ch::3f751286-0333-4a5b-a1bf-0c4eee9565b5" providerId="AD" clId="Web-{DD6428CE-6D1C-4A2E-B976-C6D70F9B40FF}" dt="2025-10-27T08:49:12.627" v="21" actId="20577"/>
          <ac:spMkLst>
            <pc:docMk/>
            <pc:sldMk cId="3606767413" sldId="289"/>
            <ac:spMk id="2" creationId="{FB9BE0E1-76E6-9960-5A30-4F52F4B4A7BC}"/>
          </ac:spMkLst>
        </pc:spChg>
      </pc:sldChg>
    </pc:docChg>
  </pc:docChgLst>
  <pc:docChgLst>
    <pc:chgData name="BBZW;FMZ; Wicki Michael (Lehrperson)" userId="3f751286-0333-4a5b-a1bf-0c4eee9565b5" providerId="ADAL" clId="{D03D3322-2906-45DA-A640-8F899A5B7F9D}"/>
    <pc:docChg chg="custSel modSld">
      <pc:chgData name="BBZW;FMZ; Wicki Michael (Lehrperson)" userId="3f751286-0333-4a5b-a1bf-0c4eee9565b5" providerId="ADAL" clId="{D03D3322-2906-45DA-A640-8F899A5B7F9D}" dt="2025-10-27T11:22:16.290" v="14" actId="1035"/>
      <pc:docMkLst>
        <pc:docMk/>
      </pc:docMkLst>
      <pc:sldChg chg="addSp delSp modSp mod">
        <pc:chgData name="BBZW;FMZ; Wicki Michael (Lehrperson)" userId="3f751286-0333-4a5b-a1bf-0c4eee9565b5" providerId="ADAL" clId="{D03D3322-2906-45DA-A640-8F899A5B7F9D}" dt="2025-10-27T11:22:16.290" v="14" actId="1035"/>
        <pc:sldMkLst>
          <pc:docMk/>
          <pc:sldMk cId="1051846901" sldId="297"/>
        </pc:sldMkLst>
        <pc:spChg chg="mod">
          <ac:chgData name="BBZW;FMZ; Wicki Michael (Lehrperson)" userId="3f751286-0333-4a5b-a1bf-0c4eee9565b5" providerId="ADAL" clId="{D03D3322-2906-45DA-A640-8F899A5B7F9D}" dt="2025-10-27T11:22:16.290" v="14" actId="1035"/>
          <ac:spMkLst>
            <pc:docMk/>
            <pc:sldMk cId="1051846901" sldId="297"/>
            <ac:spMk id="7" creationId="{2465FE29-07E4-AEEF-2BC9-48E104FDB062}"/>
          </ac:spMkLst>
        </pc:spChg>
        <pc:picChg chg="add mod ord">
          <ac:chgData name="BBZW;FMZ; Wicki Michael (Lehrperson)" userId="3f751286-0333-4a5b-a1bf-0c4eee9565b5" providerId="ADAL" clId="{D03D3322-2906-45DA-A640-8F899A5B7F9D}" dt="2025-10-27T11:22:11.392" v="9" actId="1038"/>
          <ac:picMkLst>
            <pc:docMk/>
            <pc:sldMk cId="1051846901" sldId="297"/>
            <ac:picMk id="2" creationId="{3427A525-52E3-B9FD-BBB2-363F5FC36BC6}"/>
          </ac:picMkLst>
        </pc:picChg>
        <pc:picChg chg="del">
          <ac:chgData name="BBZW;FMZ; Wicki Michael (Lehrperson)" userId="3f751286-0333-4a5b-a1bf-0c4eee9565b5" providerId="ADAL" clId="{D03D3322-2906-45DA-A640-8F899A5B7F9D}" dt="2025-10-27T11:21:46.329" v="0" actId="478"/>
          <ac:picMkLst>
            <pc:docMk/>
            <pc:sldMk cId="1051846901" sldId="297"/>
            <ac:picMk id="13" creationId="{5039A409-EC19-8406-FC09-A9A754D7C12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B0177-EEAD-467F-A696-33021A3737BE}" type="datetimeFigureOut">
              <a:rPr lang="de-CH" smtClean="0"/>
              <a:t>27.10.2025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6137-33AE-42AD-9CFF-625B8FDFB1A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4509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5E307-2EED-41DC-B960-7F893A5ED0C7}" type="datetimeFigureOut">
              <a:rPr lang="de-CH" smtClean="0"/>
              <a:t>27.10.2025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FF4FE-F8FC-4C1D-BEE1-E343905C33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752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Abse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3338338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27.10.2025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2402338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199" y="964574"/>
            <a:ext cx="6242919" cy="10948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r>
              <a:rPr lang="de-CH" b="1"/>
              <a:t>Organisation</a:t>
            </a:r>
          </a:p>
        </p:txBody>
      </p:sp>
    </p:spTree>
    <p:extLst>
      <p:ext uri="{BB962C8B-B14F-4D97-AF65-F5344CB8AC3E}">
        <p14:creationId xmlns:p14="http://schemas.microsoft.com/office/powerpoint/2010/main" val="1996287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1872000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27.10.2025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8058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9200" y="1872000"/>
            <a:ext cx="11160000" cy="4320000"/>
          </a:xfr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5AC23F4F-66B7-46A3-AB40-3D776688B753}" type="datetime1">
              <a:rPr lang="de-CH" smtClean="0"/>
              <a:t>27.10.2025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4301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349200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4589463"/>
            <a:ext cx="11160000" cy="154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27.10.2025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3015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19200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9999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27.10.2025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194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200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299999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9859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27.10.2025</a:t>
            </a:fld>
            <a:endParaRPr lang="de-CH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491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27.10.2025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3001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27.10.2025</a:t>
            </a:fld>
            <a:endParaRPr lang="de-CH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894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1008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40000" y="2159999"/>
            <a:ext cx="6731999" cy="396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60000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27.10.2025</a:t>
            </a:fld>
            <a:endParaRPr lang="de-CH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8942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932000" y="936000"/>
            <a:ext cx="6840000" cy="5183998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59998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4140000" cy="10133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27.10.2025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321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zt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200" y="964575"/>
            <a:ext cx="11160000" cy="18000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/>
            </a:lvl1pPr>
          </a:lstStyle>
          <a:p>
            <a:pPr lvl="0"/>
            <a:r>
              <a:rPr lang="de-DE"/>
              <a:t>Departement</a:t>
            </a:r>
          </a:p>
          <a:p>
            <a:pPr lvl="0"/>
            <a:r>
              <a:rPr lang="de-DE"/>
              <a:t>Organisation</a:t>
            </a:r>
          </a:p>
          <a:p>
            <a:pPr lvl="0"/>
            <a:r>
              <a:rPr lang="de-DE"/>
              <a:t>URL…</a:t>
            </a:r>
            <a:endParaRPr lang="de-CH"/>
          </a:p>
          <a:p>
            <a:pPr lvl="0"/>
            <a:endParaRPr lang="de-CH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19200" y="3240000"/>
            <a:ext cx="11160000" cy="1440000"/>
          </a:xfrm>
        </p:spPr>
        <p:txBody>
          <a:bodyPr/>
          <a:lstStyle>
            <a:lvl1pPr marL="0" indent="0" algn="ctr">
              <a:buNone/>
              <a:defRPr i="1" baseline="0">
                <a:solidFill>
                  <a:srgbClr val="009FE3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de-DE"/>
              <a:t>Schlusssatz, Handlungsaufforderung (opt.)</a:t>
            </a:r>
            <a:endParaRPr lang="de-CH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27.10.2025</a:t>
            </a:fld>
            <a:endParaRPr lang="de-CH"/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3008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872000"/>
            <a:ext cx="11160000" cy="43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192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A72A3-220D-48A9-B693-AB7431F73DEE}" type="datetime1">
              <a:rPr lang="de-CH" smtClean="0"/>
              <a:t>27.10.2025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232000" y="6372000"/>
            <a:ext cx="79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320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1216800" cy="36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8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0082C7"/>
        </a:buClr>
        <a:buSzPct val="80000"/>
        <a:buFontTx/>
        <a:buBlip>
          <a:blip r:embed="rId14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3" userDrawn="1">
          <p15:clr>
            <a:srgbClr val="F26B43"/>
          </p15:clr>
        </p15:guide>
        <p15:guide id="2" pos="619" userDrawn="1">
          <p15:clr>
            <a:srgbClr val="F26B43"/>
          </p15:clr>
        </p15:guide>
        <p15:guide id="3" pos="7151" userDrawn="1">
          <p15:clr>
            <a:srgbClr val="F26B43"/>
          </p15:clr>
        </p15:guide>
        <p15:guide id="4" orient="horz" pos="38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ye-P88DeykE?feature=oembed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/>
          <p:cNvSpPr>
            <a:spLocks noGrp="1"/>
          </p:cNvSpPr>
          <p:nvPr>
            <p:ph type="subTitle" idx="1"/>
          </p:nvPr>
        </p:nvSpPr>
        <p:spPr>
          <a:xfrm>
            <a:off x="619200" y="2875004"/>
            <a:ext cx="11160000" cy="3583459"/>
          </a:xfrm>
        </p:spPr>
        <p:txBody>
          <a:bodyPr/>
          <a:lstStyle/>
          <a:p>
            <a:r>
              <a:rPr lang="de-CH" altLang="de-DE">
                <a:solidFill>
                  <a:schemeClr val="tx1"/>
                </a:solidFill>
              </a:rPr>
              <a:t>Modul 293</a:t>
            </a:r>
          </a:p>
          <a:p>
            <a:r>
              <a:rPr lang="de-CH">
                <a:solidFill>
                  <a:schemeClr val="tx1"/>
                </a:solidFill>
              </a:rPr>
              <a:t>Webauftritt erstellen und veröffentlichen​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19200" y="935999"/>
            <a:ext cx="11160000" cy="1675396"/>
          </a:xfrm>
        </p:spPr>
        <p:txBody>
          <a:bodyPr/>
          <a:lstStyle/>
          <a:p>
            <a:r>
              <a:rPr lang="de-CH" dirty="0"/>
              <a:t>06 CSS Layouts </a:t>
            </a:r>
            <a:r>
              <a:rPr lang="de-CH" dirty="0">
                <a:sym typeface="Wingdings" panose="05000000000000000000" pitchFamily="2" charset="2"/>
              </a:rPr>
              <a:t> </a:t>
            </a:r>
            <a:r>
              <a:rPr lang="de-CH" dirty="0" err="1">
                <a:sym typeface="Wingdings" panose="05000000000000000000" pitchFamily="2" charset="2"/>
              </a:rPr>
              <a:t>Grid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1585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Anwesenheitskontrolle</a:t>
            </a:r>
          </a:p>
          <a:p>
            <a:r>
              <a:rPr lang="de-CH" dirty="0"/>
              <a:t>Theorie CSS </a:t>
            </a:r>
            <a:r>
              <a:rPr lang="de-CH" dirty="0" err="1"/>
              <a:t>Grid</a:t>
            </a:r>
            <a:endParaRPr lang="de-CH" dirty="0"/>
          </a:p>
          <a:p>
            <a:r>
              <a:rPr lang="de-CH" dirty="0"/>
              <a:t>Selbststudium zu CSS </a:t>
            </a:r>
            <a:r>
              <a:rPr lang="de-CH" dirty="0" err="1"/>
              <a:t>Grid</a:t>
            </a:r>
            <a:endParaRPr lang="de-CH" dirty="0"/>
          </a:p>
          <a:p>
            <a:endParaRPr lang="de-CH" dirty="0"/>
          </a:p>
          <a:p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/>
              <a:t>18.02.2024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2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Themen</a:t>
            </a:r>
          </a:p>
        </p:txBody>
      </p:sp>
    </p:spTree>
    <p:extLst>
      <p:ext uri="{BB962C8B-B14F-4D97-AF65-F5344CB8AC3E}">
        <p14:creationId xmlns:p14="http://schemas.microsoft.com/office/powerpoint/2010/main" val="2841948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427A525-52E3-B9FD-BBB2-363F5FC36B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91"/>
          <a:stretch>
            <a:fillRect/>
          </a:stretch>
        </p:blipFill>
        <p:spPr>
          <a:xfrm>
            <a:off x="736574" y="1656000"/>
            <a:ext cx="6454801" cy="4094967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27.10.2025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3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Überblick Modulinhalte / Grobplanung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465FE29-07E4-AEEF-2BC9-48E104FDB062}"/>
              </a:ext>
            </a:extLst>
          </p:cNvPr>
          <p:cNvSpPr/>
          <p:nvPr/>
        </p:nvSpPr>
        <p:spPr>
          <a:xfrm>
            <a:off x="2251050" y="2714624"/>
            <a:ext cx="3786484" cy="22910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51846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1D20176-0E6A-D703-AAE4-D2275DA70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27.10.2025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136E60A-F878-8A94-EF70-819856DC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7B6AD3-A7FC-6C3A-7BDA-C8938E2D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4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53D80F4-BC93-5DB1-0DC9-32300B4C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Die drei Möglichkeiten von Layout-Techniken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9956EDA-ACB4-5814-1BE7-96211A575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044" y="1879028"/>
            <a:ext cx="8390312" cy="426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103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1ABF52A-DCBB-C3B7-871E-3A5EF77FF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CSS </a:t>
            </a:r>
            <a:r>
              <a:rPr lang="de-CH" dirty="0" err="1"/>
              <a:t>Grid</a:t>
            </a:r>
            <a:r>
              <a:rPr lang="de-CH" dirty="0"/>
              <a:t> ist eine Technologie, um mit CSS-Eigenschaften </a:t>
            </a:r>
            <a:r>
              <a:rPr lang="de-CH" b="1" dirty="0"/>
              <a:t>zweidimensionale Layouts </a:t>
            </a:r>
            <a:r>
              <a:rPr lang="de-CH" dirty="0"/>
              <a:t>zu erstellen</a:t>
            </a:r>
          </a:p>
          <a:p>
            <a:r>
              <a:rPr lang="de-CH" dirty="0"/>
              <a:t>Ein Container wird in Zeilen und Spalten aufgeteilt</a:t>
            </a:r>
          </a:p>
          <a:p>
            <a:r>
              <a:rPr lang="de-CH" dirty="0"/>
              <a:t>CSS </a:t>
            </a:r>
            <a:r>
              <a:rPr lang="de-CH" dirty="0" err="1"/>
              <a:t>Grid</a:t>
            </a:r>
            <a:r>
              <a:rPr lang="de-CH" dirty="0"/>
              <a:t> ermöglicht mit weniger verschachteltem HTML und einfacher zu lesendem CSS-Layouts zu erstellen</a:t>
            </a:r>
          </a:p>
          <a:p>
            <a:endParaRPr lang="de-CH" dirty="0"/>
          </a:p>
          <a:p>
            <a:pPr marL="0" indent="0">
              <a:buNone/>
            </a:pPr>
            <a:r>
              <a:rPr lang="de-CH" dirty="0">
                <a:sym typeface="Wingdings" panose="05000000000000000000" pitchFamily="2" charset="2"/>
              </a:rPr>
              <a:t> CSS </a:t>
            </a:r>
            <a:r>
              <a:rPr lang="de-CH" dirty="0" err="1">
                <a:sym typeface="Wingdings" panose="05000000000000000000" pitchFamily="2" charset="2"/>
              </a:rPr>
              <a:t>Grid</a:t>
            </a:r>
            <a:r>
              <a:rPr lang="de-CH" dirty="0">
                <a:sym typeface="Wingdings" panose="05000000000000000000" pitchFamily="2" charset="2"/>
              </a:rPr>
              <a:t> ersetzt nicht </a:t>
            </a:r>
            <a:r>
              <a:rPr lang="de-CH" dirty="0" err="1">
                <a:sym typeface="Wingdings" panose="05000000000000000000" pitchFamily="2" charset="2"/>
              </a:rPr>
              <a:t>Flexbox</a:t>
            </a:r>
            <a:r>
              <a:rPr lang="de-CH" dirty="0">
                <a:sym typeface="Wingdings" panose="05000000000000000000" pitchFamily="2" charset="2"/>
              </a:rPr>
              <a:t>. Im </a:t>
            </a:r>
            <a:r>
              <a:rPr lang="de-CH" dirty="0" err="1">
                <a:sym typeface="Wingdings" panose="05000000000000000000" pitchFamily="2" charset="2"/>
              </a:rPr>
              <a:t>gegenteil</a:t>
            </a:r>
            <a:r>
              <a:rPr lang="de-CH" dirty="0">
                <a:sym typeface="Wingdings" panose="05000000000000000000" pitchFamily="2" charset="2"/>
              </a:rPr>
              <a:t>, die beiden Techniken ergänzen einander perfekt</a:t>
            </a:r>
            <a:endParaRPr lang="de-CH" dirty="0"/>
          </a:p>
          <a:p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D437B4-F677-0A9C-BB8C-EE11BA7B2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27.10.2025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48C8C8-66D5-9C07-75FD-689C7125E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3DB378-1C89-FC59-6BC6-8D421667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5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2E47B40-9865-2BAE-10E0-6DFAB77A3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ist CSS </a:t>
            </a:r>
            <a:r>
              <a:rPr lang="de-CH" dirty="0" err="1"/>
              <a:t>Grid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0948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8004F74-1196-9DC7-60E9-CD22A24B1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27.10.2025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54FAA6-4021-D5CB-96C3-37AECAF4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2C1B23-C3E6-CE02-27EB-FA21588D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6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9025FBB-E88B-E8AA-2B90-239A6FF23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CSS </a:t>
            </a:r>
            <a:r>
              <a:rPr lang="de-CH" dirty="0" err="1"/>
              <a:t>Grid</a:t>
            </a:r>
            <a:r>
              <a:rPr lang="de-CH" dirty="0"/>
              <a:t> Terminologie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F1219B0-A595-D00E-90A0-5F720C848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0" y="1828085"/>
            <a:ext cx="8527911" cy="417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6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257B830-0F10-B22A-3974-D01237A40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27.10.2025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E01B17-EBBD-7439-9C54-A2E406C54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32DCE5-D832-F91F-0FB3-1F384BDA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7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8E4D425-2433-6EC6-18C6-E730C2847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CSS </a:t>
            </a:r>
            <a:r>
              <a:rPr lang="de-CH" dirty="0" err="1"/>
              <a:t>Grid</a:t>
            </a:r>
            <a:r>
              <a:rPr lang="de-CH" dirty="0"/>
              <a:t> Terminologie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F03C25C-8DB7-1C3C-23FD-87303337D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08" y="2042180"/>
            <a:ext cx="8287026" cy="394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876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8B1E1FF-7115-37D5-5EE9-1E54B72A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27.10.2025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03F55A-8008-858F-B5CD-1BA5F87A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704F8B-F4FA-9C5E-36EF-92BEF63E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8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259EB12-74A8-A014-8719-B52EC136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CSS </a:t>
            </a:r>
            <a:r>
              <a:rPr lang="de-CH" dirty="0" err="1"/>
              <a:t>Grid</a:t>
            </a:r>
            <a:r>
              <a:rPr lang="de-CH" dirty="0"/>
              <a:t> </a:t>
            </a:r>
            <a:r>
              <a:rPr lang="de-CH" dirty="0">
                <a:sym typeface="Wingdings" panose="05000000000000000000" pitchFamily="2" charset="2"/>
              </a:rPr>
              <a:t> wichtigste Eigenschaften</a:t>
            </a:r>
            <a:endParaRPr lang="de-CH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9492926-3842-E515-D060-4F21D67F7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655" y="1656000"/>
            <a:ext cx="7610690" cy="440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86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8E2203-28DE-F989-7A1F-8820B2B3A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27.10.2025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F91995D-3D7C-E1E0-2E2B-F6FE608B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904D33-B0C2-BCCC-FA67-B1ABC0A4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9</a:t>
            </a:fld>
            <a:endParaRPr lang="de-CH"/>
          </a:p>
        </p:txBody>
      </p:sp>
      <p:pic>
        <p:nvPicPr>
          <p:cNvPr id="7" name="Onlinemedien 6" title="CSS GRID LAYOUT einfach erklärt (Webdesign)">
            <a:hlinkClick r:id="" action="ppaction://media"/>
            <a:extLst>
              <a:ext uri="{FF2B5EF4-FFF2-40B4-BE49-F238E27FC236}">
                <a16:creationId xmlns:a16="http://schemas.microsoft.com/office/drawing/2014/main" id="{DA44BA95-30C5-ACF2-2FEE-DFF56B9DC9C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49996" y="125334"/>
            <a:ext cx="11693188" cy="660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E1C09DA-96ED-96B9-CA7B-4A6C960AF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>
                <a:latin typeface="Consolas" panose="020B0609020204030204" pitchFamily="49" charset="0"/>
              </a:rPr>
              <a:t>grid</a:t>
            </a:r>
            <a:r>
              <a:rPr lang="de-DE" dirty="0">
                <a:latin typeface="Consolas" panose="020B0609020204030204" pitchFamily="49" charset="0"/>
              </a:rPr>
              <a:t>-template-areas</a:t>
            </a:r>
            <a:r>
              <a:rPr lang="de-DE" dirty="0"/>
              <a:t> ist eine Eigenschaft in CSS </a:t>
            </a:r>
            <a:r>
              <a:rPr lang="de-DE" dirty="0" err="1"/>
              <a:t>Grid</a:t>
            </a:r>
            <a:r>
              <a:rPr lang="de-DE" dirty="0"/>
              <a:t>, mit der man Bereiche des Grids benennen und visuell strukturieren kann.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06A16E9-91AE-427A-7526-09913CA03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27.10.2025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B2ED43-2140-EFDE-95A3-D8134E47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257461-71A4-41FE-3339-191529650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10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EDF8093-FC75-6A51-1D16-B6BEFF5DD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Variante: </a:t>
            </a:r>
            <a:r>
              <a:rPr lang="de-CH" dirty="0" err="1"/>
              <a:t>Grid</a:t>
            </a:r>
            <a:r>
              <a:rPr lang="de-CH" dirty="0"/>
              <a:t> Template Areas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F7F5752-EEC7-1DFC-E7DC-2AFDF445F8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394"/>
          <a:stretch/>
        </p:blipFill>
        <p:spPr bwMode="auto">
          <a:xfrm>
            <a:off x="3371926" y="2656708"/>
            <a:ext cx="4971974" cy="4034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342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BF2A99D-00E0-8CDF-2ACA-F5604A29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27.10.2025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149916-7B7C-64B2-39E4-A5F5E1E0A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2000" y="6498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1F1B939-6564-54B5-DF99-5112AA41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11</a:t>
            </a:fld>
            <a:endParaRPr lang="de-CH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738A736-8830-62B3-C0A2-A31CECB87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3" y="939487"/>
            <a:ext cx="10646567" cy="463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553191BB-F26A-34A5-8125-00FD550CA909}"/>
              </a:ext>
            </a:extLst>
          </p:cNvPr>
          <p:cNvSpPr txBox="1"/>
          <p:nvPr/>
        </p:nvSpPr>
        <p:spPr>
          <a:xfrm>
            <a:off x="1141119" y="5733847"/>
            <a:ext cx="9380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Leerstellen in </a:t>
            </a:r>
            <a:r>
              <a:rPr lang="de-CH" dirty="0" err="1"/>
              <a:t>grid</a:t>
            </a:r>
            <a:r>
              <a:rPr lang="de-CH" dirty="0"/>
              <a:t>-template-areas mit einem . (Punkt) Wichtig: Leerzeichen nicht vergessen!</a:t>
            </a:r>
          </a:p>
        </p:txBody>
      </p:sp>
    </p:spTree>
    <p:extLst>
      <p:ext uri="{BB962C8B-B14F-4D97-AF65-F5344CB8AC3E}">
        <p14:creationId xmlns:p14="http://schemas.microsoft.com/office/powerpoint/2010/main" val="1570740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B9BE0E1-76E6-9960-5A30-4F52F4B4A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300" y="1872000"/>
            <a:ext cx="11160000" cy="4320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de-CH">
                <a:sym typeface="Wingdings" panose="05000000000000000000" pitchFamily="2" charset="2"/>
              </a:rPr>
              <a:t> Aufgab Gridbox 1 auf doc.m293.bbzwinf.ch</a:t>
            </a:r>
            <a:endParaRPr lang="de-CH">
              <a:cs typeface="Segoe UI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9625F90-7F75-7021-204C-9DFD0D7E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27.10.2025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16DECD-8486-7336-C465-7C5145FB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3184FE-AAD9-A6EF-FEDB-3871E4FC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12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332619A-97CA-B964-F927-77546A3A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Auftrag</a:t>
            </a:r>
          </a:p>
        </p:txBody>
      </p:sp>
    </p:spTree>
    <p:extLst>
      <p:ext uri="{BB962C8B-B14F-4D97-AF65-F5344CB8AC3E}">
        <p14:creationId xmlns:p14="http://schemas.microsoft.com/office/powerpoint/2010/main" val="360676741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n Luzern">
  <a:themeElements>
    <a:clrScheme name="Kanton Luzer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6CCFF"/>
      </a:accent1>
      <a:accent2>
        <a:srgbClr val="3399FF"/>
      </a:accent2>
      <a:accent3>
        <a:srgbClr val="0066FF"/>
      </a:accent3>
      <a:accent4>
        <a:srgbClr val="0000FF"/>
      </a:accent4>
      <a:accent5>
        <a:srgbClr val="003399"/>
      </a:accent5>
      <a:accent6>
        <a:srgbClr val="000066"/>
      </a:accent6>
      <a:hlink>
        <a:srgbClr val="7FCAFF"/>
      </a:hlink>
      <a:folHlink>
        <a:srgbClr val="40AFFF"/>
      </a:folHlink>
    </a:clrScheme>
    <a:fontScheme name="Segoe UI">
      <a:majorFont>
        <a:latin typeface="Segoe UI fet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2808E21A-8CEB-4AD8-9B47-87429428C934}" vid="{12467E2D-BDDD-4BA1-991D-8047D18ED07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8a37d9d-9576-4bab-89c6-ad9e0707cb90">
      <Terms xmlns="http://schemas.microsoft.com/office/infopath/2007/PartnerControls"/>
    </lcf76f155ced4ddcb4097134ff3c332f>
    <TaxCatchAll xmlns="8e922e2c-d434-4569-88ac-67afeec8ca9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BD5B87398E0F546803C08AF34E277D4" ma:contentTypeVersion="14" ma:contentTypeDescription="Ein neues Dokument erstellen." ma:contentTypeScope="" ma:versionID="1c8c25310c716ee48e8cc1eb73b9f307">
  <xsd:schema xmlns:xsd="http://www.w3.org/2001/XMLSchema" xmlns:xs="http://www.w3.org/2001/XMLSchema" xmlns:p="http://schemas.microsoft.com/office/2006/metadata/properties" xmlns:ns2="08a37d9d-9576-4bab-89c6-ad9e0707cb90" xmlns:ns3="8e922e2c-d434-4569-88ac-67afeec8ca9b" targetNamespace="http://schemas.microsoft.com/office/2006/metadata/properties" ma:root="true" ma:fieldsID="964dd76d2e9dadf29e57329daa576343" ns2:_="" ns3:_="">
    <xsd:import namespace="08a37d9d-9576-4bab-89c6-ad9e0707cb90"/>
    <xsd:import namespace="8e922e2c-d434-4569-88ac-67afeec8ca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a37d9d-9576-4bab-89c6-ad9e0707c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a16ba4c5-514f-471a-8004-1e490f973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22e2c-d434-4569-88ac-67afeec8ca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c1dc386-9e29-45f4-b73c-a60483f09fea}" ma:internalName="TaxCatchAll" ma:showField="CatchAllData" ma:web="8e922e2c-d434-4569-88ac-67afeec8ca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45F293-8DFC-4BD8-AC95-BF812F0A42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2A089A-249A-42FE-AD24-46BC184A9B1D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8cc15a3-3e94-4076-998c-63c885c407b0"/>
    <ds:schemaRef ds:uri="http://purl.org/dc/elements/1.1/"/>
    <ds:schemaRef ds:uri="http://schemas.microsoft.com/office/2006/metadata/properties"/>
    <ds:schemaRef ds:uri="ec62de01-3c60-4501-b46d-b2adce299403"/>
    <ds:schemaRef ds:uri="http://purl.org/dc/terms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DE2A83B-05AF-44D1-A003-89802963580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175</Words>
  <Application>Microsoft Office PowerPoint</Application>
  <PresentationFormat>Breitbild</PresentationFormat>
  <Paragraphs>49</Paragraphs>
  <Slides>12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Consolas</vt:lpstr>
      <vt:lpstr>Segoe UI</vt:lpstr>
      <vt:lpstr>Wingdings</vt:lpstr>
      <vt:lpstr>Kanton Luzern</vt:lpstr>
      <vt:lpstr>06 CSS Layouts  Grid</vt:lpstr>
      <vt:lpstr>Themen</vt:lpstr>
      <vt:lpstr>Überblick Modulinhalte / Grobplanung</vt:lpstr>
      <vt:lpstr>Die drei Möglichkeiten von Layout-Techniken</vt:lpstr>
      <vt:lpstr>Was ist CSS Grid</vt:lpstr>
      <vt:lpstr>CSS Grid Terminologie</vt:lpstr>
      <vt:lpstr>CSS Grid Terminologie</vt:lpstr>
      <vt:lpstr>CSS Grid  wichtigste Eigenschaften</vt:lpstr>
      <vt:lpstr>PowerPoint-Präsentation</vt:lpstr>
      <vt:lpstr>Variante: Grid Template Areas</vt:lpstr>
      <vt:lpstr>PowerPoint-Präsentation</vt:lpstr>
      <vt:lpstr>Auftrag</vt:lpstr>
    </vt:vector>
  </TitlesOfParts>
  <Company>Kanton Luzern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Staatskanzlei Luzern</dc:creator>
  <cp:lastModifiedBy>BBZW;FMZ; Wicki Michael (Lehrperson)</cp:lastModifiedBy>
  <cp:revision>13</cp:revision>
  <dcterms:created xsi:type="dcterms:W3CDTF">2021-03-11T13:07:41Z</dcterms:created>
  <dcterms:modified xsi:type="dcterms:W3CDTF">2025-10-27T11:22:18Z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0x010100FBD5B87398E0F546803C08AF34E277D4</vt:lpwstr>
  </property>
  <property fmtid="{D5CDD505-2E9C-101B-9397-08002B2CF9AE}" pid="3" name="MediaServiceImageTags">
    <vt:lpwstr/>
  </property>
</Properties>
</file>