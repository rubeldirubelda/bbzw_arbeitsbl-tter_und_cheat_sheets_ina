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9" r:id="rId5"/>
    <p:sldId id="261" r:id="rId6"/>
    <p:sldId id="297" r:id="rId7"/>
    <p:sldId id="302" r:id="rId8"/>
    <p:sldId id="277" r:id="rId9"/>
    <p:sldId id="295" r:id="rId10"/>
    <p:sldId id="296" r:id="rId11"/>
    <p:sldId id="298" r:id="rId12"/>
    <p:sldId id="301" r:id="rId13"/>
    <p:sldId id="299" r:id="rId14"/>
    <p:sldId id="300" r:id="rId15"/>
    <p:sldId id="289" r:id="rId16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257D7-9AFE-4B1E-860A-277F6BD28708}" v="4" dt="2025-08-25T07:44:52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DD1257D7-9AFE-4B1E-860A-277F6BD28708}"/>
    <pc:docChg chg="custSel addSld modSld">
      <pc:chgData name="BBZW;FMZ; Wicki Michael (Lehrperson)" userId="3f751286-0333-4a5b-a1bf-0c4eee9565b5" providerId="ADAL" clId="{DD1257D7-9AFE-4B1E-860A-277F6BD28708}" dt="2025-08-25T07:46:42.315" v="296" actId="20577"/>
      <pc:docMkLst>
        <pc:docMk/>
      </pc:docMkLst>
      <pc:sldChg chg="addSp delSp modSp new mod">
        <pc:chgData name="BBZW;FMZ; Wicki Michael (Lehrperson)" userId="3f751286-0333-4a5b-a1bf-0c4eee9565b5" providerId="ADAL" clId="{DD1257D7-9AFE-4B1E-860A-277F6BD28708}" dt="2025-08-25T07:46:42.315" v="296" actId="20577"/>
        <pc:sldMkLst>
          <pc:docMk/>
          <pc:sldMk cId="1444347642" sldId="302"/>
        </pc:sldMkLst>
        <pc:spChg chg="add del mod">
          <ac:chgData name="BBZW;FMZ; Wicki Michael (Lehrperson)" userId="3f751286-0333-4a5b-a1bf-0c4eee9565b5" providerId="ADAL" clId="{DD1257D7-9AFE-4B1E-860A-277F6BD28708}" dt="2025-08-25T07:46:42.315" v="296" actId="20577"/>
          <ac:spMkLst>
            <pc:docMk/>
            <pc:sldMk cId="1444347642" sldId="302"/>
            <ac:spMk id="2" creationId="{ECEFE494-78A5-0D1C-27A6-06A6D7354538}"/>
          </ac:spMkLst>
        </pc:spChg>
        <pc:spChg chg="mod">
          <ac:chgData name="BBZW;FMZ; Wicki Michael (Lehrperson)" userId="3f751286-0333-4a5b-a1bf-0c4eee9565b5" providerId="ADAL" clId="{DD1257D7-9AFE-4B1E-860A-277F6BD28708}" dt="2025-08-25T07:43:31.538" v="7" actId="20577"/>
          <ac:spMkLst>
            <pc:docMk/>
            <pc:sldMk cId="1444347642" sldId="302"/>
            <ac:spMk id="6" creationId="{467E0684-9BB4-D394-FB1E-E2AE3C3E8313}"/>
          </ac:spMkLst>
        </pc:spChg>
        <pc:spChg chg="add mod">
          <ac:chgData name="BBZW;FMZ; Wicki Michael (Lehrperson)" userId="3f751286-0333-4a5b-a1bf-0c4eee9565b5" providerId="ADAL" clId="{DD1257D7-9AFE-4B1E-860A-277F6BD28708}" dt="2025-08-25T07:43:34.471" v="9"/>
          <ac:spMkLst>
            <pc:docMk/>
            <pc:sldMk cId="1444347642" sldId="302"/>
            <ac:spMk id="7" creationId="{C011A10E-E7E8-FD21-110A-85B4007D4926}"/>
          </ac:spMkLst>
        </pc:spChg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F818125F-9EBD-413E-B0E8-BEDF06391C5B}"/>
    <pc:docChg chg="custSel modSld">
      <pc:chgData name="BBZW;FMZ; Wicki Michael (Lehrperson)" userId="3f751286-0333-4a5b-a1bf-0c4eee9565b5" providerId="ADAL" clId="{F818125F-9EBD-413E-B0E8-BEDF06391C5B}" dt="2025-01-27T10:07:43.954" v="12" actId="20577"/>
      <pc:docMkLst>
        <pc:docMk/>
      </pc:docMkLst>
      <pc:sldChg chg="modSp mod">
        <pc:chgData name="BBZW;FMZ; Wicki Michael (Lehrperson)" userId="3f751286-0333-4a5b-a1bf-0c4eee9565b5" providerId="ADAL" clId="{F818125F-9EBD-413E-B0E8-BEDF06391C5B}" dt="2025-01-27T10:07:43.954" v="12" actId="20577"/>
        <pc:sldMkLst>
          <pc:docMk/>
          <pc:sldMk cId="4215852396" sldId="259"/>
        </pc:sldMkLst>
      </pc:sldChg>
      <pc:sldChg chg="addSp delSp modSp mod">
        <pc:chgData name="BBZW;FMZ; Wicki Michael (Lehrperson)" userId="3f751286-0333-4a5b-a1bf-0c4eee9565b5" providerId="ADAL" clId="{F818125F-9EBD-413E-B0E8-BEDF06391C5B}" dt="2025-01-27T10:00:01.468" v="11" actId="14100"/>
        <pc:sldMkLst>
          <pc:docMk/>
          <pc:sldMk cId="111238206" sldId="273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5-01-29T10:30:50.655" v="1750" actId="1076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delSp modSp add del mod ord">
        <pc:chgData name="BBZW;FMZ; Wicki Michael (Lehrperson)" userId="3f751286-0333-4a5b-a1bf-0c4eee9565b5" providerId="ADAL" clId="{49061CF9-6DB9-4011-AA23-E57B8F60C04E}" dt="2025-01-29T10:23:01.613" v="1579" actId="47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  <pc:sldChg chg="modSp add del mod">
        <pc:chgData name="BBZW;FMZ; Wicki Michael (Lehrperson)" userId="3f751286-0333-4a5b-a1bf-0c4eee9565b5" providerId="ADAL" clId="{49061CF9-6DB9-4011-AA23-E57B8F60C04E}" dt="2025-01-29T10:22:44.801" v="1575"/>
        <pc:sldMkLst>
          <pc:docMk/>
          <pc:sldMk cId="1297467685" sldId="297"/>
        </pc:sldMkLst>
      </pc:sldChg>
      <pc:sldChg chg="addSp modSp add mod">
        <pc:chgData name="BBZW;FMZ; Wicki Michael (Lehrperson)" userId="3f751286-0333-4a5b-a1bf-0c4eee9565b5" providerId="ADAL" clId="{49061CF9-6DB9-4011-AA23-E57B8F60C04E}" dt="2025-01-29T10:22:59.865" v="1578" actId="1076"/>
        <pc:sldMkLst>
          <pc:docMk/>
          <pc:sldMk cId="4172778893" sldId="297"/>
        </pc:sldMkLst>
      </pc:sldChg>
      <pc:sldChg chg="addSp delSp modSp add mod">
        <pc:chgData name="BBZW;FMZ; Wicki Michael (Lehrperson)" userId="3f751286-0333-4a5b-a1bf-0c4eee9565b5" providerId="ADAL" clId="{49061CF9-6DB9-4011-AA23-E57B8F60C04E}" dt="2025-01-29T10:30:50.655" v="1750" actId="1076"/>
        <pc:sldMkLst>
          <pc:docMk/>
          <pc:sldMk cId="2940158846" sldId="298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25.08.2025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25.08.2025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25.08.2025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/>
              <a:t>02 </a:t>
            </a:r>
            <a:r>
              <a:rPr lang="de-CH" dirty="0"/>
              <a:t>HTML-Grundlagen</a:t>
            </a:r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Anatomie von HTML-Elementen</a:t>
            </a:r>
          </a:p>
          <a:p>
            <a:r>
              <a:rPr lang="de-CH" dirty="0"/>
              <a:t>Wichtigste HTML-Elemente</a:t>
            </a:r>
          </a:p>
          <a:p>
            <a:r>
              <a:rPr lang="de-CH" dirty="0"/>
              <a:t>Auftrag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4245F337-A829-CF6E-AAD1-8412667F5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476" y="1872000"/>
            <a:ext cx="11069448" cy="4320000"/>
          </a:xfr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2CD5722-6BCB-3379-4492-0C6E67A67296}"/>
              </a:ext>
            </a:extLst>
          </p:cNvPr>
          <p:cNvSpPr/>
          <p:nvPr/>
        </p:nvSpPr>
        <p:spPr>
          <a:xfrm>
            <a:off x="4977012" y="3169417"/>
            <a:ext cx="5121994" cy="6471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277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CEFE494-78A5-0D1C-27A6-06A6D735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Notiere für dich in 10 Minuten die wichtigsten Punkte, die du bereits über HTML kennst.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z. B. Aufbau, grundlegende Tags, Struktur einer HTML-Seite, Besonderheiten, wozu HTML dient.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(keine KI, nur was euch </a:t>
            </a:r>
            <a:r>
              <a:rPr lang="de-DE"/>
              <a:t>auswendig wisst)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Gemeinsam fassen wir die euer Wissen dann zusammen, und vergleichen es mit den Unterlagen.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D0E362-20B6-E57A-7F2C-3CDFBF8B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D443F6-A515-AE70-9606-A3022548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4A9923-0245-C9DA-4555-EA6FC2BE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67E0684-9BB4-D394-FB1E-E2AE3C3E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Umfrage</a:t>
            </a:r>
          </a:p>
        </p:txBody>
      </p:sp>
    </p:spTree>
    <p:extLst>
      <p:ext uri="{BB962C8B-B14F-4D97-AF65-F5344CB8AC3E}">
        <p14:creationId xmlns:p14="http://schemas.microsoft.com/office/powerpoint/2010/main" val="144434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619200" y="1900990"/>
            <a:ext cx="11160000" cy="4291010"/>
          </a:xfrm>
        </p:spPr>
        <p:txBody>
          <a:bodyPr>
            <a:normAutofit/>
          </a:bodyPr>
          <a:lstStyle/>
          <a:p>
            <a:pPr marL="288000">
              <a:lnSpc>
                <a:spcPct val="100000"/>
              </a:lnSpc>
              <a:spcAft>
                <a:spcPts val="600"/>
              </a:spcAft>
            </a:pPr>
            <a:r>
              <a:rPr lang="de-DE" sz="2600" dirty="0">
                <a:latin typeface="Segoe UI (Textkörper)"/>
              </a:rPr>
              <a:t>Ein Element hat (fast) immer ein öffnendes und ein </a:t>
            </a:r>
            <a:r>
              <a:rPr lang="de-DE" sz="2600" dirty="0" err="1">
                <a:latin typeface="Segoe UI (Textkörper)"/>
              </a:rPr>
              <a:t>schliessendes</a:t>
            </a:r>
            <a:r>
              <a:rPr lang="de-DE" sz="2600" dirty="0">
                <a:latin typeface="Segoe UI (Textkörper)"/>
              </a:rPr>
              <a:t> Tag</a:t>
            </a:r>
            <a:br>
              <a:rPr lang="de-DE" sz="2800" dirty="0">
                <a:latin typeface="Segoe UI (Textkörper)"/>
              </a:rPr>
            </a:br>
            <a:r>
              <a:rPr lang="de-CH" sz="2000" b="0" i="0" dirty="0">
                <a:solidFill>
                  <a:srgbClr val="0000CD"/>
                </a:solidFill>
                <a:effectLst/>
                <a:latin typeface="Verdana" panose="020B0604030504040204" pitchFamily="34" charset="0"/>
              </a:rPr>
              <a:t>&lt;</a:t>
            </a:r>
            <a:r>
              <a:rPr lang="de-CH" sz="2000" b="0" i="0" dirty="0" err="1">
                <a:solidFill>
                  <a:srgbClr val="A52A2A"/>
                </a:solidFill>
                <a:effectLst/>
                <a:latin typeface="Verdana" panose="020B0604030504040204" pitchFamily="34" charset="0"/>
              </a:rPr>
              <a:t>tagname</a:t>
            </a:r>
            <a:r>
              <a:rPr lang="de-CH" sz="2000" b="0" i="0" dirty="0">
                <a:solidFill>
                  <a:srgbClr val="0000CD"/>
                </a:solidFill>
                <a:effectLst/>
                <a:latin typeface="Verdana" panose="020B0604030504040204" pitchFamily="34" charset="0"/>
              </a:rPr>
              <a:t>&gt;</a:t>
            </a:r>
            <a:r>
              <a:rPr lang="de-CH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Content </a:t>
            </a:r>
            <a:r>
              <a:rPr lang="de-CH" sz="20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goes</a:t>
            </a:r>
            <a:r>
              <a:rPr lang="de-CH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de-CH" sz="20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here</a:t>
            </a:r>
            <a:r>
              <a:rPr lang="de-CH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...</a:t>
            </a:r>
            <a:r>
              <a:rPr lang="de-CH" sz="2000" b="0" i="0" dirty="0">
                <a:solidFill>
                  <a:srgbClr val="0000CD"/>
                </a:solidFill>
                <a:effectLst/>
                <a:latin typeface="Verdana" panose="020B0604030504040204" pitchFamily="34" charset="0"/>
              </a:rPr>
              <a:t>&lt;</a:t>
            </a:r>
            <a:r>
              <a:rPr lang="de-CH" sz="2000" b="0" i="0" dirty="0">
                <a:solidFill>
                  <a:srgbClr val="A52A2A"/>
                </a:solidFill>
                <a:effectLst/>
                <a:latin typeface="Verdana" panose="020B0604030504040204" pitchFamily="34" charset="0"/>
              </a:rPr>
              <a:t>/</a:t>
            </a:r>
            <a:r>
              <a:rPr lang="de-CH" sz="2000" b="0" i="0" dirty="0" err="1">
                <a:solidFill>
                  <a:srgbClr val="A52A2A"/>
                </a:solidFill>
                <a:effectLst/>
                <a:latin typeface="Verdana" panose="020B0604030504040204" pitchFamily="34" charset="0"/>
              </a:rPr>
              <a:t>tagname</a:t>
            </a:r>
            <a:r>
              <a:rPr lang="de-CH" sz="2000" b="0" i="0" dirty="0">
                <a:solidFill>
                  <a:srgbClr val="0000CD"/>
                </a:solidFill>
                <a:effectLst/>
                <a:latin typeface="Verdana" panose="020B0604030504040204" pitchFamily="34" charset="0"/>
              </a:rPr>
              <a:t>&gt;</a:t>
            </a:r>
          </a:p>
          <a:p>
            <a:pPr marL="288000">
              <a:lnSpc>
                <a:spcPct val="100000"/>
              </a:lnSpc>
              <a:spcAft>
                <a:spcPts val="600"/>
              </a:spcAft>
            </a:pPr>
            <a:r>
              <a:rPr lang="de-CH" sz="2600" dirty="0">
                <a:latin typeface="Segoe UI (Textkörper)"/>
              </a:rPr>
              <a:t>Elemente können «verschachtelt» werden.</a:t>
            </a:r>
            <a:br>
              <a:rPr lang="de-CH" sz="2600" dirty="0">
                <a:latin typeface="Segoe UI (Textkörper)"/>
              </a:rPr>
            </a:b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b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/b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sz="2000" dirty="0">
              <a:latin typeface="Segoe UI (Textkörper)"/>
            </a:endParaRPr>
          </a:p>
          <a:p>
            <a:pPr marL="288000">
              <a:lnSpc>
                <a:spcPct val="100000"/>
              </a:lnSpc>
              <a:spcAft>
                <a:spcPts val="600"/>
              </a:spcAft>
            </a:pPr>
            <a:r>
              <a:rPr lang="de-CH" sz="2600" dirty="0">
                <a:latin typeface="Segoe UI (Textkörper)"/>
              </a:rPr>
              <a:t>HTML unterscheidet nicht zwischen Gross- und Kleinschreibung</a:t>
            </a:r>
          </a:p>
          <a:p>
            <a:pPr marL="288000">
              <a:lnSpc>
                <a:spcPct val="100000"/>
              </a:lnSpc>
              <a:spcAft>
                <a:spcPts val="600"/>
              </a:spcAft>
            </a:pPr>
            <a:r>
              <a:rPr lang="de-CH" sz="2600" dirty="0">
                <a:latin typeface="Segoe UI (Textkörper)"/>
              </a:rPr>
              <a:t>Tags können Attribute (meist unsichtbar) enthalten</a:t>
            </a:r>
            <a:br>
              <a:rPr lang="de-CH" sz="2600" dirty="0">
                <a:latin typeface="Segoe UI (Textkörper)"/>
              </a:rPr>
            </a:b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="https://www.google.ch"&gt;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zu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Google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000" dirty="0">
              <a:latin typeface="Segoe UI (Textkörper)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Anatomie von HTML-Elementen</a:t>
            </a:r>
          </a:p>
        </p:txBody>
      </p:sp>
    </p:spTree>
    <p:extLst>
      <p:ext uri="{BB962C8B-B14F-4D97-AF65-F5344CB8AC3E}">
        <p14:creationId xmlns:p14="http://schemas.microsoft.com/office/powerpoint/2010/main" val="931657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619200" y="1900990"/>
            <a:ext cx="11572800" cy="4291010"/>
          </a:xfrm>
        </p:spPr>
        <p:txBody>
          <a:bodyPr>
            <a:normAutofit fontScale="92500" lnSpcReduction="20000"/>
          </a:bodyPr>
          <a:lstStyle/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Überschriften bzw. </a:t>
            </a:r>
            <a:r>
              <a:rPr lang="de-CH" sz="2600" dirty="0" err="1">
                <a:latin typeface="Segoe UI (Textkörper)"/>
              </a:rPr>
              <a:t>Headings</a:t>
            </a:r>
            <a:r>
              <a:rPr lang="de-CH" sz="2600" dirty="0">
                <a:latin typeface="Segoe UI (Textkörper)"/>
              </a:rPr>
              <a:t> 	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Absätze bzw. Paragraphs 	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 is a paragraph.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Formatierungen</a:t>
            </a:r>
            <a:br>
              <a:rPr lang="de-CH" sz="2600" dirty="0">
                <a:latin typeface="Segoe UI (Textkörper)"/>
              </a:rPr>
            </a:br>
            <a:r>
              <a:rPr lang="de-CH" sz="1800" dirty="0">
                <a:latin typeface="Segoe UI (Textkörper)"/>
              </a:rPr>
              <a:t>(Fett, Kursiv, Unterstrichen, Durchstrichen, Markiert </a:t>
            </a:r>
            <a:r>
              <a:rPr lang="de-CH" sz="1800" dirty="0" err="1">
                <a:latin typeface="Segoe UI (Textkörper)"/>
              </a:rPr>
              <a:t>usw</a:t>
            </a:r>
            <a:r>
              <a:rPr lang="de-CH" sz="1800" dirty="0">
                <a:latin typeface="Segoe UI (Textkörper)"/>
              </a:rPr>
              <a:t>…)</a:t>
            </a:r>
            <a:r>
              <a:rPr lang="de-CH" sz="2600" dirty="0">
                <a:latin typeface="Segoe UI (Textkörper)"/>
              </a:rPr>
              <a:t>	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b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&gt;,&lt;</a:t>
            </a:r>
            <a:r>
              <a:rPr lang="en-US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&gt;,&lt;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&gt;,&lt;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del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&gt;,&lt;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mark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</a:t>
            </a:r>
            <a:endParaRPr lang="de-CH" sz="1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Hyperlinks	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600" b="0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Bilder	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de-CH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de-CH" sz="16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="picture.jpg"</a:t>
            </a:r>
            <a:r>
              <a:rPr lang="de-CH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600" dirty="0">
                <a:solidFill>
                  <a:srgbClr val="0000CD"/>
                </a:solidFill>
                <a:latin typeface="Consolas" panose="020B0609020204030204" pitchFamily="49" charset="0"/>
              </a:rPr>
              <a:t>"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Image </a:t>
            </a:r>
            <a:r>
              <a:rPr lang="de-CH" sz="16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de-CH" sz="16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Tree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Blöcke	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am a div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/div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600" dirty="0">
              <a:latin typeface="Segoe UI (Textkörper)"/>
            </a:endParaRP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Zeilenumbruch	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Horizontale Linie	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hr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  <a:p>
            <a:pPr marL="23406" indent="0">
              <a:lnSpc>
                <a:spcPct val="100000"/>
              </a:lnSpc>
              <a:buNone/>
              <a:tabLst>
                <a:tab pos="6276975" algn="l"/>
              </a:tabLst>
            </a:pPr>
            <a:r>
              <a:rPr lang="de-CH" sz="1600" dirty="0">
                <a:latin typeface="Segoe UI (Textkörper)"/>
              </a:rPr>
              <a:t>Quelle: https://www.w3schools.com/ </a:t>
            </a:r>
            <a:r>
              <a:rPr lang="de-CH" sz="2600" dirty="0">
                <a:latin typeface="Segoe UI (Textkörper)"/>
              </a:rPr>
              <a:t>	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Wichtigste HTML-Elemente</a:t>
            </a:r>
          </a:p>
        </p:txBody>
      </p:sp>
    </p:spTree>
    <p:extLst>
      <p:ext uri="{BB962C8B-B14F-4D97-AF65-F5344CB8AC3E}">
        <p14:creationId xmlns:p14="http://schemas.microsoft.com/office/powerpoint/2010/main" val="864799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619200" y="1900990"/>
            <a:ext cx="11572800" cy="4291010"/>
          </a:xfrm>
        </p:spPr>
        <p:txBody>
          <a:bodyPr>
            <a:normAutofit fontScale="92500" lnSpcReduction="10000"/>
          </a:bodyPr>
          <a:lstStyle/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2600" dirty="0">
                <a:latin typeface="Segoe UI (Textkörper)"/>
              </a:rPr>
              <a:t>Tabellen	</a:t>
            </a:r>
          </a:p>
          <a:p>
            <a:pPr marL="23406" indent="0">
              <a:lnSpc>
                <a:spcPct val="100000"/>
              </a:lnSpc>
              <a:buNone/>
              <a:tabLst>
                <a:tab pos="6276975" algn="l"/>
              </a:tabLst>
            </a:pP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600" b="0" dirty="0" err="1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de-CH" sz="1600" dirty="0">
                <a:solidFill>
                  <a:srgbClr val="0000CD"/>
                </a:solidFill>
                <a:latin typeface="Consolas" panose="020B0609020204030204" pitchFamily="49" charset="0"/>
              </a:rPr>
              <a:t>="1"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Firma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Branche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dirty="0">
                <a:solidFill>
                  <a:srgbClr val="000000"/>
                </a:solidFill>
                <a:latin typeface="Consolas" panose="020B0609020204030204" pitchFamily="49" charset="0"/>
              </a:rPr>
              <a:t>Land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SBB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dirty="0">
                <a:solidFill>
                  <a:srgbClr val="000000"/>
                </a:solidFill>
                <a:latin typeface="Consolas" panose="020B0609020204030204" pitchFamily="49" charset="0"/>
              </a:rPr>
              <a:t>Transport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dirty="0">
                <a:solidFill>
                  <a:srgbClr val="000000"/>
                </a:solidFill>
                <a:latin typeface="Consolas" panose="020B0609020204030204" pitchFamily="49" charset="0"/>
              </a:rPr>
              <a:t>Schweiz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Technologie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USA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tr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1600" dirty="0"/>
            </a:b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de-CH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Wichtigste HTML-Elemente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B168C53-6AAB-6590-0408-0ECD41B5B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955" y="3422822"/>
            <a:ext cx="2543030" cy="107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11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C583-6532-E823-CCFF-E93B94E6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7FC1486-7038-B475-C39E-2A4D3D7A6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900990"/>
            <a:ext cx="5356484" cy="4291010"/>
          </a:xfrm>
        </p:spPr>
        <p:txBody>
          <a:bodyPr>
            <a:normAutofit/>
          </a:bodyPr>
          <a:lstStyle/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3800" dirty="0">
                <a:latin typeface="Segoe UI (Textkörper)"/>
              </a:rPr>
              <a:t>Listen (unsortiert)</a:t>
            </a:r>
          </a:p>
          <a:p>
            <a:pPr marL="23406" indent="0">
              <a:lnSpc>
                <a:spcPct val="100000"/>
              </a:lnSpc>
              <a:buNone/>
              <a:tabLst>
                <a:tab pos="6276975" algn="l"/>
              </a:tabLst>
            </a:pP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28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2800" dirty="0"/>
            </a:br>
            <a:r>
              <a:rPr lang="de-CH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&gt;Google&lt;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</a:b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  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&gt;Bing&lt;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</a:b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&gt;Yahoo&lt;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/li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de-CH" sz="2800" dirty="0"/>
            </a:b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CH" sz="28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de-CH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51A2FD-83C7-3833-E07A-3B0274C5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C2A6AC-E35F-B1D4-ADAC-402452A4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C152D8-6B40-D9D9-F08D-F123C3BB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0E3AFBA-342F-2AAA-BFBD-B3761FCB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Wichtigste HTML-Elemente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3FFD28-6422-54CC-AE04-F9C79639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39" y="4553614"/>
            <a:ext cx="2048161" cy="1247949"/>
          </a:xfrm>
          <a:prstGeom prst="rect">
            <a:avLst/>
          </a:prstGeom>
        </p:spPr>
      </p:pic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B773027D-6A72-8C01-E182-A3EBD6E60A60}"/>
              </a:ext>
            </a:extLst>
          </p:cNvPr>
          <p:cNvSpPr txBox="1">
            <a:spLocks/>
          </p:cNvSpPr>
          <p:nvPr/>
        </p:nvSpPr>
        <p:spPr>
          <a:xfrm>
            <a:off x="6096000" y="1868495"/>
            <a:ext cx="5356484" cy="4291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82C7"/>
              </a:buClr>
              <a:buSzPct val="80000"/>
              <a:buFontTx/>
              <a:buBlip>
                <a:blip r:embed="rId3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3800" dirty="0">
                <a:latin typeface="Segoe UI (Textkörper)"/>
              </a:rPr>
              <a:t>Listen (nummeriert)</a:t>
            </a:r>
          </a:p>
          <a:p>
            <a:pPr marL="23406" indent="0">
              <a:lnSpc>
                <a:spcPct val="100000"/>
              </a:lnSpc>
              <a:buFontTx/>
              <a:buNone/>
              <a:tabLst>
                <a:tab pos="6276975" algn="l"/>
              </a:tabLst>
            </a:pP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de-CH" dirty="0" err="1">
                <a:solidFill>
                  <a:srgbClr val="A52A2A"/>
                </a:solidFill>
                <a:latin typeface="Consolas" panose="020B0609020204030204" pitchFamily="49" charset="0"/>
              </a:rPr>
              <a:t>ol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de-CH" dirty="0"/>
            </a:br>
            <a:r>
              <a:rPr lang="de-CH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&gt;Google&lt;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</a:b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  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&gt;Bing&lt;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</a:b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  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&gt;Yahoo&lt;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de-CH" dirty="0"/>
            </a:b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de-CH" dirty="0">
                <a:solidFill>
                  <a:srgbClr val="A52A2A"/>
                </a:solidFill>
                <a:latin typeface="Consolas" panose="020B0609020204030204" pitchFamily="49" charset="0"/>
              </a:rPr>
              <a:t>/</a:t>
            </a:r>
            <a:r>
              <a:rPr lang="de-CH" dirty="0" err="1">
                <a:solidFill>
                  <a:srgbClr val="A52A2A"/>
                </a:solidFill>
                <a:latin typeface="Consolas" panose="020B0609020204030204" pitchFamily="49" charset="0"/>
              </a:rPr>
              <a:t>ol</a:t>
            </a:r>
            <a:r>
              <a:rPr lang="de-CH" dirty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de-CH" sz="2600" dirty="0">
              <a:latin typeface="Segoe UI (Textkörper)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F1D5B4-94D5-DCAC-B41C-4D1CC26CD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639" y="4486929"/>
            <a:ext cx="202910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5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3D46-7B13-6528-D2E1-1DB00943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FDBD51-3E49-5DEF-47DF-A76B4BFD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88FCAD-F1AE-B2F7-9501-F4E4FC67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3E01A5-AF63-562B-D64B-AB591B3C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1424965-4040-C197-4812-786FFF0F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748" y="1663731"/>
            <a:ext cx="3962953" cy="425826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66D02DB-EA35-6BE0-86F5-2ED0E9FC4F3B}"/>
              </a:ext>
            </a:extLst>
          </p:cNvPr>
          <p:cNvSpPr txBox="1"/>
          <p:nvPr/>
        </p:nvSpPr>
        <p:spPr>
          <a:xfrm>
            <a:off x="585989" y="892758"/>
            <a:ext cx="8524800" cy="565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"/kontakt-senden"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&lt;legend&gt;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Kontaktformular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&lt;/legend&gt;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Name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E-Mail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E-Mail: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Betreff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"betreff"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Betreff: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"betreff"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"betreff"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Nachricht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nachricht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Nachricht: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nachricht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nachricht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"5"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cols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"30"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Auswahl: Thema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thema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Thema: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thema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thema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"allgemein"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Allgemein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"support"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Support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feedback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Feedback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Datenschutz Checkbox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checkbox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datenschutz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datenschutz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datenschutz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Ich akzeptiere die Datenschutzbestimmungen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Senden-Button --&gt;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CH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de-CH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Absenden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e-CH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e-CH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de-CH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de-CH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86F8B28-8B66-FAE4-95FE-F7C23F2A2B87}"/>
              </a:ext>
            </a:extLst>
          </p:cNvPr>
          <p:cNvSpPr txBox="1"/>
          <p:nvPr/>
        </p:nvSpPr>
        <p:spPr>
          <a:xfrm>
            <a:off x="1640594" y="214884"/>
            <a:ext cx="9102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2000">
              <a:lnSpc>
                <a:spcPct val="100000"/>
              </a:lnSpc>
              <a:tabLst>
                <a:tab pos="6276975" algn="l"/>
              </a:tabLst>
            </a:pPr>
            <a:r>
              <a:rPr lang="de-CH" sz="3200" b="1" dirty="0">
                <a:latin typeface="Segoe UI (Textkörper)"/>
              </a:rPr>
              <a:t>HTML Formulare</a:t>
            </a:r>
          </a:p>
        </p:txBody>
      </p:sp>
    </p:spTree>
    <p:extLst>
      <p:ext uri="{BB962C8B-B14F-4D97-AF65-F5344CB8AC3E}">
        <p14:creationId xmlns:p14="http://schemas.microsoft.com/office/powerpoint/2010/main" val="37591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5E6E5F1-7B31-B6F9-B1B2-1EAB88CD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Was bedeutet "Clean Code" und warum ist es wichtig?</a:t>
            </a:r>
          </a:p>
          <a:p>
            <a:pPr lvl="1"/>
            <a:r>
              <a:rPr lang="de-DE" dirty="0"/>
              <a:t>Klar &amp; Lesbar (für andere und dich selbst)</a:t>
            </a:r>
          </a:p>
          <a:p>
            <a:pPr lvl="1"/>
            <a:r>
              <a:rPr lang="de-DE" dirty="0"/>
              <a:t>Strukturiert und wartbar (klare Einrückung, logische Reihenfolge)</a:t>
            </a:r>
          </a:p>
          <a:p>
            <a:pPr lvl="1"/>
            <a:r>
              <a:rPr lang="de-DE" dirty="0"/>
              <a:t>Sinnvolle Tags statt "alles in &lt;div&gt;"</a:t>
            </a:r>
          </a:p>
          <a:p>
            <a:pPr lvl="1"/>
            <a:r>
              <a:rPr lang="de-DE" dirty="0"/>
              <a:t>Keine unnötigen Wiederholungen oder leeren Elemente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C40722-BDC5-212C-E62C-F6D5B157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ABAC8D-E72D-C2DC-C1F3-77029CE5C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C282C3-A025-F184-4595-C6E5E354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CD36F46-5297-6BEB-2309-82ECE377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HTML Clean Code  </a:t>
            </a:r>
            <a:r>
              <a:rPr lang="de-DE" sz="2800" dirty="0"/>
              <a:t>Gute Gewohnheiten von Anfang an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791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1D51EE8-BDBF-ACA4-7A5B-84F56F2C1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Einrücken mit 2 oder 4 Leerzeichen (</a:t>
            </a:r>
            <a:r>
              <a:rPr lang="de-CH" dirty="0" err="1"/>
              <a:t>Prettifier</a:t>
            </a:r>
            <a:r>
              <a:rPr lang="de-CH" dirty="0"/>
              <a:t> verwenden!)</a:t>
            </a:r>
          </a:p>
          <a:p>
            <a:r>
              <a:rPr lang="de-CH" b="1" dirty="0"/>
              <a:t>Kleinbuchstaben</a:t>
            </a:r>
            <a:r>
              <a:rPr lang="de-CH" dirty="0"/>
              <a:t> bei Tags und Attributen</a:t>
            </a:r>
          </a:p>
          <a:p>
            <a:pPr>
              <a:lnSpc>
                <a:spcPct val="100000"/>
              </a:lnSpc>
            </a:pPr>
            <a:r>
              <a:rPr lang="de-CH" dirty="0"/>
              <a:t>Semantische Tags verwenden:</a:t>
            </a:r>
            <a:br>
              <a:rPr lang="de-CH" dirty="0"/>
            </a:br>
            <a:r>
              <a:rPr lang="de-CH" sz="2000" dirty="0">
                <a:latin typeface="Consolas" panose="020B0609020204030204" pitchFamily="49" charset="0"/>
              </a:rPr>
              <a:t>&lt;</a:t>
            </a:r>
            <a:r>
              <a:rPr lang="de-CH" sz="2000" dirty="0" err="1">
                <a:latin typeface="Consolas" panose="020B0609020204030204" pitchFamily="49" charset="0"/>
              </a:rPr>
              <a:t>header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nav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main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section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article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aside</a:t>
            </a:r>
            <a:r>
              <a:rPr lang="de-CH" sz="2000" dirty="0">
                <a:latin typeface="Consolas" panose="020B0609020204030204" pitchFamily="49" charset="0"/>
              </a:rPr>
              <a:t>&gt;, &lt;</a:t>
            </a:r>
            <a:r>
              <a:rPr lang="de-CH" sz="2000" dirty="0" err="1">
                <a:latin typeface="Consolas" panose="020B0609020204030204" pitchFamily="49" charset="0"/>
              </a:rPr>
              <a:t>footer</a:t>
            </a:r>
            <a:r>
              <a:rPr lang="de-CH" sz="2000" dirty="0">
                <a:latin typeface="Consolas" panose="020B0609020204030204" pitchFamily="49" charset="0"/>
              </a:rPr>
              <a:t>&gt;</a:t>
            </a:r>
            <a:br>
              <a:rPr lang="de-CH" sz="2000" dirty="0">
                <a:latin typeface="Consolas" panose="020B0609020204030204" pitchFamily="49" charset="0"/>
              </a:rPr>
            </a:br>
            <a:r>
              <a:rPr lang="de-CH" sz="2000" dirty="0"/>
              <a:t>(ist später auch für CSS hilfreich)</a:t>
            </a:r>
          </a:p>
          <a:p>
            <a:r>
              <a:rPr lang="de-CH" dirty="0"/>
              <a:t>Kommentare bei komplexeren Strukturen / Layouts:</a:t>
            </a:r>
            <a:br>
              <a:rPr lang="de-CH" dirty="0"/>
            </a:br>
            <a:r>
              <a:rPr lang="de-CH" sz="2400" dirty="0">
                <a:latin typeface="Consolas" panose="020B0609020204030204" pitchFamily="49" charset="0"/>
              </a:rPr>
              <a:t>&lt;!-- Navigation --&gt;</a:t>
            </a:r>
          </a:p>
          <a:p>
            <a:r>
              <a:rPr lang="de-CH" dirty="0"/>
              <a:t>Keine Copy-Paste-Reste oder leeren Elemente im Code belassen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E0744E-CFED-23B6-73A7-0C747F1C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0547AB-6C7B-5A43-CA46-37BD17C3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60C64F-F291-D01B-ADEF-FE6971C6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11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19E75D7-0138-6904-058D-437C83605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Empfohlene Clean-Code-Regeln für HTML</a:t>
            </a:r>
          </a:p>
        </p:txBody>
      </p:sp>
    </p:spTree>
    <p:extLst>
      <p:ext uri="{BB962C8B-B14F-4D97-AF65-F5344CB8AC3E}">
        <p14:creationId xmlns:p14="http://schemas.microsoft.com/office/powerpoint/2010/main" val="210172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Eine Webseite nach Vorlage in Plain-HTML gestalten</a:t>
            </a:r>
          </a:p>
          <a:p>
            <a:r>
              <a:rPr lang="de-CH" dirty="0">
                <a:sym typeface="Wingdings" panose="05000000000000000000" pitchFamily="2" charset="2"/>
              </a:rPr>
              <a:t>Aufgabenstellung liegt im OneNote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25.08.2025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12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F72499D-E4B2-46D3-BBB3-5E3504066DD3}"/>
</file>

<file path=customXml/itemProps3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943</Words>
  <Application>Microsoft Office PowerPoint</Application>
  <PresentationFormat>Breitbild</PresentationFormat>
  <Paragraphs>114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Consolas</vt:lpstr>
      <vt:lpstr>Segoe UI</vt:lpstr>
      <vt:lpstr>Segoe UI (Textkörper)</vt:lpstr>
      <vt:lpstr>Verdana</vt:lpstr>
      <vt:lpstr>Wingdings</vt:lpstr>
      <vt:lpstr>Kanton Luzern</vt:lpstr>
      <vt:lpstr>02 HTML-Grundlagen</vt:lpstr>
      <vt:lpstr>Themen</vt:lpstr>
      <vt:lpstr>Überblick Modulinhalte / Grobplanung</vt:lpstr>
      <vt:lpstr>Umfrage</vt:lpstr>
      <vt:lpstr>Anatomie von HTML-Elementen</vt:lpstr>
      <vt:lpstr>Wichtigste HTML-Elemente</vt:lpstr>
      <vt:lpstr>Wichtigste HTML-Elemente</vt:lpstr>
      <vt:lpstr>Wichtigste HTML-Elemente</vt:lpstr>
      <vt:lpstr>PowerPoint-Präsentation</vt:lpstr>
      <vt:lpstr>HTML Clean Code  Gute Gewohnheiten von Anfang an</vt:lpstr>
      <vt:lpstr>Empfohlene Clean-Code-Regeln für HTML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BBZW;FMZ; Wicki Michael (Lehrperson)</cp:lastModifiedBy>
  <cp:revision>3</cp:revision>
  <dcterms:created xsi:type="dcterms:W3CDTF">2021-03-11T13:07:41Z</dcterms:created>
  <dcterms:modified xsi:type="dcterms:W3CDTF">2025-08-25T07:46:44Z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