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59" r:id="rId5"/>
    <p:sldId id="261" r:id="rId6"/>
    <p:sldId id="270" r:id="rId7"/>
    <p:sldId id="275" r:id="rId8"/>
    <p:sldId id="273" r:id="rId9"/>
    <p:sldId id="292" r:id="rId10"/>
    <p:sldId id="274" r:id="rId11"/>
    <p:sldId id="296" r:id="rId12"/>
    <p:sldId id="297" r:id="rId13"/>
    <p:sldId id="291" r:id="rId14"/>
    <p:sldId id="287" r:id="rId15"/>
    <p:sldId id="278" r:id="rId16"/>
    <p:sldId id="279" r:id="rId17"/>
    <p:sldId id="280" r:id="rId18"/>
    <p:sldId id="277" r:id="rId19"/>
    <p:sldId id="298" r:id="rId20"/>
    <p:sldId id="276" r:id="rId21"/>
    <p:sldId id="285" r:id="rId22"/>
    <p:sldId id="286" r:id="rId23"/>
    <p:sldId id="283" r:id="rId24"/>
    <p:sldId id="288" r:id="rId25"/>
    <p:sldId id="289" r:id="rId26"/>
    <p:sldId id="295" r:id="rId27"/>
    <p:sldId id="290" r:id="rId28"/>
    <p:sldId id="294" r:id="rId29"/>
  </p:sldIdLst>
  <p:sldSz cx="12192000" cy="6858000"/>
  <p:notesSz cx="6858000" cy="9144000"/>
  <p:defaultTextStyle>
    <a:defPPr>
      <a:defRPr lang="de-DE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FE3"/>
    <a:srgbClr val="008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5D4EBA-5DCB-4843-B8C0-FA314744F66A}" v="5" dt="2025-08-25T07:39:51.1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BZW;FMZ; Wicki Michael (Lehrperson)" userId="3f751286-0333-4a5b-a1bf-0c4eee9565b5" providerId="ADAL" clId="{355D4EBA-5DCB-4843-B8C0-FA314744F66A}"/>
    <pc:docChg chg="undo custSel addSld delSld modSld">
      <pc:chgData name="BBZW;FMZ; Wicki Michael (Lehrperson)" userId="3f751286-0333-4a5b-a1bf-0c4eee9565b5" providerId="ADAL" clId="{355D4EBA-5DCB-4843-B8C0-FA314744F66A}" dt="2025-08-25T07:39:51.132" v="28"/>
      <pc:docMkLst>
        <pc:docMk/>
      </pc:docMkLst>
      <pc:sldChg chg="mod modShow">
        <pc:chgData name="BBZW;FMZ; Wicki Michael (Lehrperson)" userId="3f751286-0333-4a5b-a1bf-0c4eee9565b5" providerId="ADAL" clId="{355D4EBA-5DCB-4843-B8C0-FA314744F66A}" dt="2025-08-25T07:39:46.729" v="27" actId="729"/>
        <pc:sldMkLst>
          <pc:docMk/>
          <pc:sldMk cId="1899688467" sldId="276"/>
        </pc:sldMkLst>
      </pc:sldChg>
      <pc:sldChg chg="addSp delSp modSp mod addAnim delAnim modAnim modShow">
        <pc:chgData name="BBZW;FMZ; Wicki Michael (Lehrperson)" userId="3f751286-0333-4a5b-a1bf-0c4eee9565b5" providerId="ADAL" clId="{355D4EBA-5DCB-4843-B8C0-FA314744F66A}" dt="2025-08-25T07:39:46.729" v="27" actId="729"/>
        <pc:sldMkLst>
          <pc:docMk/>
          <pc:sldMk cId="49119557" sldId="285"/>
        </pc:sldMkLst>
        <pc:spChg chg="mod">
          <ac:chgData name="BBZW;FMZ; Wicki Michael (Lehrperson)" userId="3f751286-0333-4a5b-a1bf-0c4eee9565b5" providerId="ADAL" clId="{355D4EBA-5DCB-4843-B8C0-FA314744F66A}" dt="2025-08-25T07:39:38.609" v="21" actId="20577"/>
          <ac:spMkLst>
            <pc:docMk/>
            <pc:sldMk cId="49119557" sldId="285"/>
            <ac:spMk id="6" creationId="{02C6BD53-72AC-C0E1-DE9F-702F2186F8F2}"/>
          </ac:spMkLst>
        </pc:spChg>
        <pc:spChg chg="add del">
          <ac:chgData name="BBZW;FMZ; Wicki Michael (Lehrperson)" userId="3f751286-0333-4a5b-a1bf-0c4eee9565b5" providerId="ADAL" clId="{355D4EBA-5DCB-4843-B8C0-FA314744F66A}" dt="2025-08-25T07:38:08.806" v="11" actId="22"/>
          <ac:spMkLst>
            <pc:docMk/>
            <pc:sldMk cId="49119557" sldId="285"/>
            <ac:spMk id="7" creationId="{D31D81AF-1142-F907-7BE0-5FC74C64868A}"/>
          </ac:spMkLst>
        </pc:spChg>
        <pc:picChg chg="add del">
          <ac:chgData name="BBZW;FMZ; Wicki Michael (Lehrperson)" userId="3f751286-0333-4a5b-a1bf-0c4eee9565b5" providerId="ADAL" clId="{355D4EBA-5DCB-4843-B8C0-FA314744F66A}" dt="2025-08-25T07:39:40.819" v="26" actId="478"/>
          <ac:picMkLst>
            <pc:docMk/>
            <pc:sldMk cId="49119557" sldId="285"/>
            <ac:picMk id="8" creationId="{77C6D166-3A24-7A20-22FB-9A68F6D090C4}"/>
          </ac:picMkLst>
        </pc:picChg>
        <pc:picChg chg="add mod">
          <ac:chgData name="BBZW;FMZ; Wicki Michael (Lehrperson)" userId="3f751286-0333-4a5b-a1bf-0c4eee9565b5" providerId="ADAL" clId="{355D4EBA-5DCB-4843-B8C0-FA314744F66A}" dt="2025-08-25T07:39:40.322" v="25"/>
          <ac:picMkLst>
            <pc:docMk/>
            <pc:sldMk cId="49119557" sldId="285"/>
            <ac:picMk id="9" creationId="{B7D5B575-315F-0942-0BBE-287E2F5DD9B2}"/>
          </ac:picMkLst>
        </pc:picChg>
      </pc:sldChg>
      <pc:sldChg chg="mod modShow">
        <pc:chgData name="BBZW;FMZ; Wicki Michael (Lehrperson)" userId="3f751286-0333-4a5b-a1bf-0c4eee9565b5" providerId="ADAL" clId="{355D4EBA-5DCB-4843-B8C0-FA314744F66A}" dt="2025-08-25T07:39:46.729" v="27" actId="729"/>
        <pc:sldMkLst>
          <pc:docMk/>
          <pc:sldMk cId="3381949971" sldId="286"/>
        </pc:sldMkLst>
      </pc:sldChg>
      <pc:sldChg chg="add">
        <pc:chgData name="BBZW;FMZ; Wicki Michael (Lehrperson)" userId="3f751286-0333-4a5b-a1bf-0c4eee9565b5" providerId="ADAL" clId="{355D4EBA-5DCB-4843-B8C0-FA314744F66A}" dt="2025-08-25T07:39:51.132" v="28"/>
        <pc:sldMkLst>
          <pc:docMk/>
          <pc:sldMk cId="1108239783" sldId="298"/>
        </pc:sldMkLst>
      </pc:sldChg>
      <pc:sldChg chg="add del">
        <pc:chgData name="BBZW;FMZ; Wicki Michael (Lehrperson)" userId="3f751286-0333-4a5b-a1bf-0c4eee9565b5" providerId="ADAL" clId="{355D4EBA-5DCB-4843-B8C0-FA314744F66A}" dt="2025-08-25T07:39:38.260" v="19"/>
        <pc:sldMkLst>
          <pc:docMk/>
          <pc:sldMk cId="3742310929" sldId="29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8B0177-EEAD-467F-A696-33021A3737BE}" type="datetimeFigureOut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26137-33AE-42AD-9CFF-625B8FDFB1A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845092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B5E307-2EED-41DC-B960-7F893A5ED0C7}" type="datetimeFigureOut">
              <a:rPr lang="de-CH" smtClean="0"/>
              <a:t>25.08.2025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FFF4FE-F8FC-4C1D-BEE1-E343905C330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7523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Abse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19200" y="3338338"/>
            <a:ext cx="11160000" cy="2880000"/>
          </a:xfrm>
        </p:spPr>
        <p:txBody>
          <a:bodyPr>
            <a:normAutofit/>
          </a:bodyPr>
          <a:lstStyle>
            <a:lvl1pPr marL="0" indent="0" algn="l">
              <a:buNone/>
              <a:defRPr sz="3200" i="1">
                <a:solidFill>
                  <a:schemeClr val="bg1">
                    <a:lumMod val="65000"/>
                  </a:schemeClr>
                </a:solidFill>
                <a:latin typeface="+mn-lt"/>
                <a:cs typeface="Times New Roman" panose="02020603050405020304" pitchFamily="18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25.08.2025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2402338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19199" y="964574"/>
            <a:ext cx="6242919" cy="109488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latin typeface="+mn-lt"/>
              </a:defRPr>
            </a:lvl1pPr>
          </a:lstStyle>
          <a:p>
            <a:r>
              <a:rPr lang="de-CH" b="1"/>
              <a:t>Organisation</a:t>
            </a:r>
          </a:p>
        </p:txBody>
      </p:sp>
    </p:spTree>
    <p:extLst>
      <p:ext uri="{BB962C8B-B14F-4D97-AF65-F5344CB8AC3E}">
        <p14:creationId xmlns:p14="http://schemas.microsoft.com/office/powerpoint/2010/main" val="19962872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19200" y="1872000"/>
            <a:ext cx="11160000" cy="2880000"/>
          </a:xfrm>
        </p:spPr>
        <p:txBody>
          <a:bodyPr>
            <a:normAutofit/>
          </a:bodyPr>
          <a:lstStyle>
            <a:lvl1pPr marL="0" indent="0" algn="l">
              <a:buNone/>
              <a:defRPr sz="3200" i="1">
                <a:solidFill>
                  <a:schemeClr val="bg1">
                    <a:lumMod val="65000"/>
                  </a:schemeClr>
                </a:solidFill>
                <a:latin typeface="+mn-lt"/>
                <a:cs typeface="Times New Roman" panose="02020603050405020304" pitchFamily="18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25.08.2025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280583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9200" y="1872000"/>
            <a:ext cx="11160000" cy="4320000"/>
          </a:xfr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4301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3492000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4589463"/>
            <a:ext cx="11160000" cy="1548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25.08.2025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3015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19200" y="1872000"/>
            <a:ext cx="5472000" cy="4320000"/>
          </a:xfrm>
        </p:spPr>
        <p:txBody>
          <a:bodyPr/>
          <a:lstStyle>
            <a:lvl1pPr marL="228594" indent="-228594">
              <a:buFontTx/>
              <a:buBlip>
                <a:blip r:embed="rId2"/>
              </a:buBlip>
              <a:defRPr/>
            </a:lvl1pPr>
            <a:lvl2pPr marL="685783" indent="-228594">
              <a:buFontTx/>
              <a:buBlip>
                <a:blip r:embed="rId2"/>
              </a:buBlip>
              <a:defRPr/>
            </a:lvl2pPr>
            <a:lvl3pPr marL="1142971" indent="-228594">
              <a:buFontTx/>
              <a:buBlip>
                <a:blip r:embed="rId2"/>
              </a:buBlip>
              <a:defRPr/>
            </a:lvl3pPr>
            <a:lvl4pPr marL="1600160" indent="-228594">
              <a:buFontTx/>
              <a:buBlip>
                <a:blip r:embed="rId2"/>
              </a:buBlip>
              <a:defRPr/>
            </a:lvl4pPr>
            <a:lvl5pPr marL="2057349" indent="-228594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99999" y="1872000"/>
            <a:ext cx="5472000" cy="4320000"/>
          </a:xfrm>
        </p:spPr>
        <p:txBody>
          <a:bodyPr/>
          <a:lstStyle>
            <a:lvl1pPr marL="228594" indent="-228594">
              <a:buFontTx/>
              <a:buBlip>
                <a:blip r:embed="rId2"/>
              </a:buBlip>
              <a:defRPr/>
            </a:lvl1pPr>
            <a:lvl2pPr marL="685783" indent="-228594">
              <a:buFontTx/>
              <a:buBlip>
                <a:blip r:embed="rId2"/>
              </a:buBlip>
              <a:defRPr/>
            </a:lvl2pPr>
            <a:lvl3pPr marL="1142971" indent="-228594">
              <a:buFontTx/>
              <a:buBlip>
                <a:blip r:embed="rId2"/>
              </a:buBlip>
              <a:defRPr/>
            </a:lvl3pPr>
            <a:lvl4pPr marL="1600160" indent="-228594">
              <a:buFontTx/>
              <a:buBlip>
                <a:blip r:embed="rId2"/>
              </a:buBlip>
              <a:defRPr/>
            </a:lvl4pPr>
            <a:lvl5pPr marL="2057349" indent="-228594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25.08.2025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1943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1947863"/>
            <a:ext cx="5472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200" y="2914651"/>
            <a:ext cx="5472000" cy="32750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299999" y="1947863"/>
            <a:ext cx="5472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299859" y="2914651"/>
            <a:ext cx="5472000" cy="32750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1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25.08.2025</a:t>
            </a:fld>
            <a:endParaRPr lang="de-CH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94915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25.08.2025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30011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25.08.2025</a:t>
            </a:fld>
            <a:endParaRPr lang="de-CH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48949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10080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040000" y="2159999"/>
            <a:ext cx="6731999" cy="396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19200" y="2160000"/>
            <a:ext cx="4140000" cy="3960000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25.08.2025</a:t>
            </a:fld>
            <a:endParaRPr lang="de-CH"/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89420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4932000" y="936000"/>
            <a:ext cx="6840000" cy="5183998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19200" y="2159998"/>
            <a:ext cx="4140000" cy="3960000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4140000" cy="10133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25.08.2025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13215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zte 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19200" y="964575"/>
            <a:ext cx="11160000" cy="18000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/>
            </a:lvl1pPr>
          </a:lstStyle>
          <a:p>
            <a:pPr lvl="0"/>
            <a:r>
              <a:rPr lang="de-DE"/>
              <a:t>Departement</a:t>
            </a:r>
          </a:p>
          <a:p>
            <a:pPr lvl="0"/>
            <a:r>
              <a:rPr lang="de-DE"/>
              <a:t>Organisation</a:t>
            </a:r>
          </a:p>
          <a:p>
            <a:pPr lvl="0"/>
            <a:r>
              <a:rPr lang="de-DE"/>
              <a:t>URL…</a:t>
            </a:r>
            <a:endParaRPr lang="de-CH"/>
          </a:p>
          <a:p>
            <a:pPr lvl="0"/>
            <a:endParaRPr lang="de-CH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19200" y="3240000"/>
            <a:ext cx="11160000" cy="1440000"/>
          </a:xfrm>
        </p:spPr>
        <p:txBody>
          <a:bodyPr/>
          <a:lstStyle>
            <a:lvl1pPr marL="0" indent="0" algn="ctr">
              <a:buNone/>
              <a:defRPr i="1" baseline="0">
                <a:solidFill>
                  <a:srgbClr val="009FE3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de-DE"/>
              <a:t>Schlusssatz, Handlungsaufforderung (opt.)</a:t>
            </a:r>
            <a:endParaRPr lang="de-CH"/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25.08.2025</a:t>
            </a:fld>
            <a:endParaRPr lang="de-CH"/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30083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1872000"/>
            <a:ext cx="11160000" cy="432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19200" y="637200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A72A3-220D-48A9-B693-AB7431F73DEE}" type="datetime1">
              <a:rPr lang="de-CH" smtClean="0"/>
              <a:t>25.08.2025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232000" y="6372000"/>
            <a:ext cx="792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332000" y="637200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1216800" cy="36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8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rgbClr val="0082C7"/>
        </a:buClr>
        <a:buSzPct val="80000"/>
        <a:buFontTx/>
        <a:buBlip>
          <a:blip r:embed="rId14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3" userDrawn="1">
          <p15:clr>
            <a:srgbClr val="F26B43"/>
          </p15:clr>
        </p15:guide>
        <p15:guide id="2" pos="619" userDrawn="1">
          <p15:clr>
            <a:srgbClr val="F26B43"/>
          </p15:clr>
        </p15:guide>
        <p15:guide id="3" pos="7151" userDrawn="1">
          <p15:clr>
            <a:srgbClr val="F26B43"/>
          </p15:clr>
        </p15:guide>
        <p15:guide id="4" orient="horz" pos="389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pedia.org/wiki/Uniform_Resource_Locator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5Jr-_Za5yQM?feature=oembed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tkfVQK6UxDI?feature=oembed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1K64fWX5z4U?feature=oembed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pHFWGN-upGM?feature=oembed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c9sMNc2PrMU?feature=oembed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2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decademy.com/learn/learn-html/modules/learn-html-elements/cheatsheet" TargetMode="External"/><Relationship Id="rId2" Type="http://schemas.openxmlformats.org/officeDocument/2006/relationships/hyperlink" Target="https://www.w3schools.com/html/" TargetMode="Externa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/>
          <p:cNvSpPr>
            <a:spLocks noGrp="1"/>
          </p:cNvSpPr>
          <p:nvPr>
            <p:ph type="subTitle" idx="1"/>
          </p:nvPr>
        </p:nvSpPr>
        <p:spPr>
          <a:xfrm>
            <a:off x="619200" y="2875004"/>
            <a:ext cx="11160000" cy="3583459"/>
          </a:xfrm>
        </p:spPr>
        <p:txBody>
          <a:bodyPr/>
          <a:lstStyle/>
          <a:p>
            <a:r>
              <a:rPr lang="de-CH" altLang="de-DE">
                <a:solidFill>
                  <a:schemeClr val="tx1"/>
                </a:solidFill>
              </a:rPr>
              <a:t>Modul 293</a:t>
            </a:r>
          </a:p>
          <a:p>
            <a:r>
              <a:rPr lang="de-CH">
                <a:solidFill>
                  <a:schemeClr val="tx1"/>
                </a:solidFill>
              </a:rPr>
              <a:t>Webauftritt erstellen und veröffentlichen​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619200" y="935999"/>
            <a:ext cx="11160000" cy="1675396"/>
          </a:xfrm>
        </p:spPr>
        <p:txBody>
          <a:bodyPr/>
          <a:lstStyle/>
          <a:p>
            <a:r>
              <a:rPr lang="de-CH"/>
              <a:t>Einführung</a:t>
            </a:r>
          </a:p>
        </p:txBody>
      </p:sp>
    </p:spTree>
    <p:extLst>
      <p:ext uri="{BB962C8B-B14F-4D97-AF65-F5344CB8AC3E}">
        <p14:creationId xmlns:p14="http://schemas.microsoft.com/office/powerpoint/2010/main" val="4215852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/>
              <a:t>Anwesenheitskontrolle</a:t>
            </a:r>
          </a:p>
          <a:p>
            <a:r>
              <a:rPr lang="de-CH"/>
              <a:t>Vorstellung Lehrperson</a:t>
            </a:r>
          </a:p>
          <a:p>
            <a:r>
              <a:rPr lang="de-CH"/>
              <a:t>Gestaltung des Unterrichts</a:t>
            </a:r>
          </a:p>
          <a:p>
            <a:r>
              <a:rPr lang="de-CH"/>
              <a:t>Überblick Modulinhalte / Grobplanung</a:t>
            </a:r>
          </a:p>
          <a:p>
            <a:r>
              <a:rPr lang="de-CH"/>
              <a:t>Leistungsbeurteilung (LB), Modulnoten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27.01.2024 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2</a:t>
            </a:fld>
            <a:endParaRPr lang="de-CH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Themen</a:t>
            </a:r>
          </a:p>
        </p:txBody>
      </p:sp>
    </p:spTree>
    <p:extLst>
      <p:ext uri="{BB962C8B-B14F-4D97-AF65-F5344CB8AC3E}">
        <p14:creationId xmlns:p14="http://schemas.microsoft.com/office/powerpoint/2010/main" val="2841948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Michael Wicki, 40 Jahre</a:t>
            </a:r>
          </a:p>
          <a:p>
            <a:r>
              <a:rPr lang="de-CH" dirty="0"/>
              <a:t>Zuhause in Willisau</a:t>
            </a:r>
          </a:p>
          <a:p>
            <a:r>
              <a:rPr lang="de-CH" dirty="0"/>
              <a:t>Lehre als Elektroniker, Studium in Elektrotechnik</a:t>
            </a:r>
          </a:p>
          <a:p>
            <a:r>
              <a:rPr lang="de-CH" dirty="0"/>
              <a:t>Selbständig als IT-Berater und Software-Entwickler seit 2011</a:t>
            </a:r>
          </a:p>
          <a:p>
            <a:r>
              <a:rPr lang="de-CH" dirty="0"/>
              <a:t>Hobbys: Tauchen, Segeln, Wandern, Snowboarden, Velofahren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3</a:t>
            </a:fld>
            <a:endParaRPr lang="de-CH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Vorstellung Lehrperson</a:t>
            </a:r>
          </a:p>
        </p:txBody>
      </p:sp>
    </p:spTree>
    <p:extLst>
      <p:ext uri="{BB962C8B-B14F-4D97-AF65-F5344CB8AC3E}">
        <p14:creationId xmlns:p14="http://schemas.microsoft.com/office/powerpoint/2010/main" val="403782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Lernende</a:t>
            </a:r>
          </a:p>
        </p:txBody>
      </p:sp>
      <p:sp>
        <p:nvSpPr>
          <p:cNvPr id="10" name="Inhaltsplatzhalter 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CH" dirty="0"/>
              <a:t>Pünktlichkeit</a:t>
            </a:r>
          </a:p>
          <a:p>
            <a:r>
              <a:rPr lang="de-CH" dirty="0"/>
              <a:t>Beteiligung am Unterricht</a:t>
            </a:r>
          </a:p>
          <a:p>
            <a:r>
              <a:rPr lang="de-CH" dirty="0"/>
              <a:t>Respektvoller Umgang</a:t>
            </a:r>
          </a:p>
          <a:p>
            <a:r>
              <a:rPr lang="de-CH"/>
              <a:t>Selbständigkeit</a:t>
            </a:r>
            <a:endParaRPr lang="de-CH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CH"/>
              <a:t>Lehrperson</a:t>
            </a:r>
          </a:p>
        </p:txBody>
      </p:sp>
      <p:sp>
        <p:nvSpPr>
          <p:cNvPr id="12" name="Inhaltsplatzhalter 11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de-CH"/>
              <a:t>Einhalten des Stundenplans</a:t>
            </a:r>
          </a:p>
          <a:p>
            <a:r>
              <a:rPr lang="de-CH"/>
              <a:t>Flexibler und realitätsnaher Unterricht</a:t>
            </a:r>
          </a:p>
          <a:p>
            <a:r>
              <a:rPr lang="de-CH"/>
              <a:t>Wenig bis keine HA</a:t>
            </a:r>
          </a:p>
          <a:p>
            <a:r>
              <a:rPr lang="de-CH"/>
              <a:t>Prüfungen zeitnah zurück</a:t>
            </a:r>
          </a:p>
          <a:p>
            <a:r>
              <a:rPr lang="de-CH"/>
              <a:t>Individuelle Unterstützung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Gestaltung des Unterrichts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39902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4245F337-A829-CF6E-AAD1-8412667F5B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4476" y="1872000"/>
            <a:ext cx="11069448" cy="4320000"/>
          </a:xfrm>
        </p:spPr>
      </p:pic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5</a:t>
            </a:fld>
            <a:endParaRPr lang="de-CH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Überblick Modulinhalte / Grobplanung</a:t>
            </a:r>
          </a:p>
        </p:txBody>
      </p:sp>
    </p:spTree>
    <p:extLst>
      <p:ext uri="{BB962C8B-B14F-4D97-AF65-F5344CB8AC3E}">
        <p14:creationId xmlns:p14="http://schemas.microsoft.com/office/powerpoint/2010/main" val="111238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nhaltsplatzhalter 7" descr="Ein Bild, das Text, Screenshot, Zahl, parallel enthält.&#10;&#10;KI-generierte Inhalte können fehlerhaft sein.">
            <a:extLst>
              <a:ext uri="{FF2B5EF4-FFF2-40B4-BE49-F238E27FC236}">
                <a16:creationId xmlns:a16="http://schemas.microsoft.com/office/drawing/2014/main" id="{6E1A4178-2D01-3B5A-6F5C-DE98486ECD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1831" y="1872000"/>
            <a:ext cx="10174737" cy="4320000"/>
          </a:xfrm>
        </p:spPr>
      </p:pic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6</a:t>
            </a:fld>
            <a:endParaRPr lang="de-CH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Überblick Modulinhalte / Grobplanung</a:t>
            </a:r>
          </a:p>
        </p:txBody>
      </p:sp>
    </p:spTree>
    <p:extLst>
      <p:ext uri="{BB962C8B-B14F-4D97-AF65-F5344CB8AC3E}">
        <p14:creationId xmlns:p14="http://schemas.microsoft.com/office/powerpoint/2010/main" val="519756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27965" indent="-227965"/>
            <a:r>
              <a:rPr lang="de-CH" dirty="0"/>
              <a:t>Prüfung 1: HTML &amp; CSS Grundlagen</a:t>
            </a:r>
            <a:br>
              <a:rPr lang="de-CH" dirty="0"/>
            </a:br>
            <a:r>
              <a:rPr lang="de-CH" sz="2400" dirty="0"/>
              <a:t>Gewichtung 1.0</a:t>
            </a:r>
            <a:br>
              <a:rPr lang="de-CH" dirty="0"/>
            </a:br>
            <a:r>
              <a:rPr lang="de-CH" sz="2000" dirty="0"/>
              <a:t>Hilfsmittel: A4-Seite einseitig bedruckt oder beschreiben.</a:t>
            </a:r>
            <a:endParaRPr lang="de-DE" dirty="0"/>
          </a:p>
          <a:p>
            <a:pPr marL="227965" indent="-227965"/>
            <a:r>
              <a:rPr lang="de-CH" dirty="0"/>
              <a:t>Prüfung 2: CSS 2. Teil &amp; CSS Layouts</a:t>
            </a:r>
            <a:br>
              <a:rPr lang="de-CH" dirty="0"/>
            </a:br>
            <a:r>
              <a:rPr lang="de-CH" sz="2400" dirty="0"/>
              <a:t>Gewichtung 1.0</a:t>
            </a:r>
            <a:br>
              <a:rPr lang="de-CH" dirty="0"/>
            </a:br>
            <a:r>
              <a:rPr lang="de-CH" sz="2000" dirty="0"/>
              <a:t>Hilfsmittel: offizielle W3C Dokumentation, Cheat-Sheet</a:t>
            </a:r>
            <a:endParaRPr lang="de-CH" dirty="0">
              <a:cs typeface="Segoe UI"/>
            </a:endParaRPr>
          </a:p>
          <a:p>
            <a:pPr marL="227965" indent="-227965"/>
            <a:r>
              <a:rPr lang="de-CH" dirty="0"/>
              <a:t>Prüfung 3: </a:t>
            </a:r>
            <a:r>
              <a:rPr lang="de-CH" dirty="0" err="1"/>
              <a:t>Javascript</a:t>
            </a:r>
            <a:r>
              <a:rPr lang="de-CH" dirty="0"/>
              <a:t> &amp; Responsive Webdesign</a:t>
            </a:r>
            <a:br>
              <a:rPr lang="de-CH" dirty="0"/>
            </a:br>
            <a:r>
              <a:rPr lang="de-CH" sz="2400" dirty="0"/>
              <a:t>Gewichtung 1.0</a:t>
            </a:r>
            <a:br>
              <a:rPr lang="de-CH" dirty="0"/>
            </a:br>
            <a:r>
              <a:rPr lang="de-CH" sz="2000" dirty="0"/>
              <a:t>Hilfsmittel: offizielle W3C Dokumentation, Cheat-Sheet</a:t>
            </a:r>
            <a:endParaRPr lang="de-CH" sz="2000" dirty="0">
              <a:cs typeface="Segoe UI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7</a:t>
            </a:fld>
            <a:endParaRPr lang="de-CH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Leistungsbeurteilung (LB), Modulnoten</a:t>
            </a:r>
            <a:br>
              <a:rPr lang="de-CH"/>
            </a:b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10497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DBCB378-4C8C-2562-093A-76AF106BE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b="1" dirty="0"/>
              <a:t>Cheat-Sheets </a:t>
            </a:r>
            <a:r>
              <a:rPr lang="de-CH" dirty="0"/>
              <a:t>werden mir bis spätestens am Vorabend per Teams/Mail zugestellt. Klasse &amp; Name/Vorname ist ganz oben rechts aufgedruckt, damit ich diese vor der Prüfung austeilen kann.</a:t>
            </a:r>
          </a:p>
          <a:p>
            <a:r>
              <a:rPr lang="de-CH" b="1" dirty="0"/>
              <a:t>Nachholprüfungstermine:</a:t>
            </a:r>
            <a:r>
              <a:rPr lang="de-CH" dirty="0"/>
              <a:t> bei Krankheit/Abwesenheit wird die Nachholprüfung an einem der offiziellen Daten durchgeführt.</a:t>
            </a:r>
            <a:br>
              <a:rPr lang="de-CH" dirty="0"/>
            </a:br>
            <a:r>
              <a:rPr lang="de-CH" dirty="0"/>
              <a:t>Die Prüfung wird aufgrund der Situation schwieriger ausfallen, da aufgrund Durchführung durch andere Lehrperson nur </a:t>
            </a:r>
            <a:r>
              <a:rPr lang="de-CH" dirty="0" err="1"/>
              <a:t>SafeExamBrowser</a:t>
            </a:r>
            <a:r>
              <a:rPr lang="de-CH" dirty="0"/>
              <a:t> Prüfungen möglich sind, und somit auch keine Live Entwicklungsumgebung / öffentliche Dokumentationen genutzt werden können.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D6A704A-0B9A-EB7A-8C28-63BCB924E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1A19796-130F-7CB9-773A-A5269A6AA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3F280C-5337-D4A5-0176-FC2EA8F6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8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76CA00C-A727-34A4-6EEB-080D480F9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Regeln Prüfungen</a:t>
            </a:r>
          </a:p>
        </p:txBody>
      </p:sp>
    </p:spTree>
    <p:extLst>
      <p:ext uri="{BB962C8B-B14F-4D97-AF65-F5344CB8AC3E}">
        <p14:creationId xmlns:p14="http://schemas.microsoft.com/office/powerpoint/2010/main" val="2637187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5C6B2E3-302E-783A-E5A9-376945945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Bei Programmieraufgaben: Die zugehörige KI-Lösung zur Aufgabe kenne ich schon vor der Prüfung.</a:t>
            </a:r>
          </a:p>
          <a:p>
            <a:r>
              <a:rPr lang="de-CH" dirty="0" err="1"/>
              <a:t>Jede:r</a:t>
            </a:r>
            <a:r>
              <a:rPr lang="de-CH" dirty="0"/>
              <a:t> </a:t>
            </a:r>
            <a:r>
              <a:rPr lang="de-CH" dirty="0" err="1"/>
              <a:t>Programmierer:in</a:t>
            </a:r>
            <a:r>
              <a:rPr lang="de-CH" dirty="0"/>
              <a:t> hat seine eigene erkennbare Handschrift</a:t>
            </a:r>
            <a:br>
              <a:rPr lang="de-CH" dirty="0"/>
            </a:br>
            <a:r>
              <a:rPr lang="de-CH" dirty="0"/>
              <a:t>Gleiche Antworten erkenne ich sofort…</a:t>
            </a:r>
          </a:p>
          <a:p>
            <a:endParaRPr lang="de-CH" dirty="0"/>
          </a:p>
          <a:p>
            <a:r>
              <a:rPr lang="de-CH" dirty="0"/>
              <a:t>Wenn keine Eigenleistung ersichtlich ist</a:t>
            </a:r>
            <a:br>
              <a:rPr lang="de-CH" dirty="0"/>
            </a:br>
            <a:r>
              <a:rPr lang="de-CH" dirty="0">
                <a:sym typeface="Wingdings" panose="05000000000000000000" pitchFamily="2" charset="2"/>
              </a:rPr>
              <a:t> 0 Punkte bei dieser Aufgabe!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0CCF19B-B43C-0B31-5A75-5AD5E1376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291EA4B-4DA6-B921-92A9-721F25F56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F3A0D2-A3B8-4AA2-0E40-553ADBC4B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9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216008B-BFC4-EA6D-458B-FCBF26C56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Fairplay an Prüfungen</a:t>
            </a:r>
          </a:p>
        </p:txBody>
      </p:sp>
    </p:spTree>
    <p:extLst>
      <p:ext uri="{BB962C8B-B14F-4D97-AF65-F5344CB8AC3E}">
        <p14:creationId xmlns:p14="http://schemas.microsoft.com/office/powerpoint/2010/main" val="4106923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C52AC15-02AE-98A9-3948-95B1477C6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de-CH"/>
              <a:t>Hast du </a:t>
            </a:r>
            <a:r>
              <a:rPr lang="de-CH" dirty="0"/>
              <a:t>schon Erfahrungen im Erstellen einer Webseite?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dirty="0"/>
              <a:t>Falls ja, welche?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BBE6304-5C4C-6D7D-6540-298A271CF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E492873-15A9-D005-C11D-40EFB86B8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5ABDA4A-78E6-7F0F-EB32-F427DE90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10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FDF21FB-6E63-AC58-AF8D-ED7150854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Umfrage</a:t>
            </a:r>
          </a:p>
        </p:txBody>
      </p:sp>
    </p:spTree>
    <p:extLst>
      <p:ext uri="{BB962C8B-B14F-4D97-AF65-F5344CB8AC3E}">
        <p14:creationId xmlns:p14="http://schemas.microsoft.com/office/powerpoint/2010/main" val="3415275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AFCD4CA-7109-9988-B473-9C527894C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>
                <a:sym typeface="Wingdings" panose="05000000000000000000" pitchFamily="2" charset="2"/>
              </a:rPr>
              <a:t>URL  Adresse zur Webseite und dem gewünschten Inhalt</a:t>
            </a:r>
            <a:endParaRPr lang="de-CH" dirty="0"/>
          </a:p>
          <a:p>
            <a:r>
              <a:rPr lang="de-CH" dirty="0"/>
              <a:t>HTTP(s) </a:t>
            </a:r>
            <a:r>
              <a:rPr lang="de-CH" dirty="0">
                <a:sym typeface="Wingdings" panose="05000000000000000000" pitchFamily="2" charset="2"/>
              </a:rPr>
              <a:t> Übertragungsprotokoll</a:t>
            </a:r>
          </a:p>
          <a:p>
            <a:r>
              <a:rPr lang="de-CH" dirty="0">
                <a:sym typeface="Wingdings" panose="05000000000000000000" pitchFamily="2" charset="2"/>
              </a:rPr>
              <a:t>HTML  Basis-Auszeichnungssprache einer Webseite</a:t>
            </a:r>
          </a:p>
          <a:p>
            <a:r>
              <a:rPr lang="de-CH" dirty="0"/>
              <a:t>Request </a:t>
            </a:r>
            <a:r>
              <a:rPr lang="de-CH" dirty="0">
                <a:sym typeface="Wingdings" panose="05000000000000000000" pitchFamily="2" charset="2"/>
              </a:rPr>
              <a:t> Anfordern einer Webseite (z.B. mit Browser)</a:t>
            </a:r>
          </a:p>
          <a:p>
            <a:r>
              <a:rPr lang="de-CH" dirty="0">
                <a:sym typeface="Wingdings" panose="05000000000000000000" pitchFamily="2" charset="2"/>
              </a:rPr>
              <a:t>Response  Antwort des Servers (z.B. Webseiten-Inhalt)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E251D3C-CFC8-4F14-E299-C292F1EE7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9287B71-BBAC-B1E3-AE55-90FA87719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5C47B89-978C-0C6A-35D8-F53E425EE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11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E77A5D2-1FAD-B249-C67F-38E0963ED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Heute: Grundlagen der Web-Technologien</a:t>
            </a:r>
          </a:p>
        </p:txBody>
      </p:sp>
    </p:spTree>
    <p:extLst>
      <p:ext uri="{BB962C8B-B14F-4D97-AF65-F5344CB8AC3E}">
        <p14:creationId xmlns:p14="http://schemas.microsoft.com/office/powerpoint/2010/main" val="3687262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270A4F6-87CD-EDFA-D705-0910D30BD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2800">
                <a:latin typeface="+mn-lt"/>
              </a:rPr>
              <a:t>URL</a:t>
            </a:r>
          </a:p>
          <a:p>
            <a:pPr marL="285750" indent="-285750">
              <a:buBlip>
                <a:blip r:embed="rId2"/>
              </a:buBlip>
            </a:pPr>
            <a:r>
              <a:rPr lang="de-DE" sz="2800">
                <a:latin typeface="+mn-lt"/>
              </a:rPr>
              <a:t>steht für </a:t>
            </a:r>
            <a:r>
              <a:rPr lang="de-DE" sz="2800">
                <a:solidFill>
                  <a:srgbClr val="FF0000"/>
                </a:solidFill>
                <a:latin typeface="+mn-lt"/>
              </a:rPr>
              <a:t>Uniform </a:t>
            </a:r>
            <a:r>
              <a:rPr lang="de-DE" sz="2800" err="1">
                <a:solidFill>
                  <a:srgbClr val="FF0000"/>
                </a:solidFill>
                <a:latin typeface="+mn-lt"/>
              </a:rPr>
              <a:t>Resource</a:t>
            </a:r>
            <a:r>
              <a:rPr lang="de-DE" sz="2800">
                <a:solidFill>
                  <a:srgbClr val="FF0000"/>
                </a:solidFill>
                <a:latin typeface="+mn-lt"/>
              </a:rPr>
              <a:t> Locator</a:t>
            </a:r>
            <a:endParaRPr lang="de-CH" sz="2800">
              <a:solidFill>
                <a:srgbClr val="FF0000"/>
              </a:solidFill>
              <a:latin typeface="+mn-lt"/>
            </a:endParaRPr>
          </a:p>
          <a:p>
            <a:pPr marL="285750" indent="-285750">
              <a:buBlip>
                <a:blip r:embed="rId2"/>
              </a:buBlip>
            </a:pPr>
            <a:r>
              <a:rPr lang="de-CH"/>
              <a:t>Enthält das Schema</a:t>
            </a:r>
            <a:br>
              <a:rPr lang="de-CH"/>
            </a:br>
            <a:r>
              <a:rPr lang="de-CH" sz="2400"/>
              <a:t>z.B. http:// https:// file:// ftp:// mailto: </a:t>
            </a:r>
            <a:r>
              <a:rPr lang="de-CH" sz="2400" err="1"/>
              <a:t>tel</a:t>
            </a:r>
            <a:r>
              <a:rPr lang="de-CH" sz="2400"/>
              <a:t>:</a:t>
            </a:r>
          </a:p>
          <a:p>
            <a:pPr marL="285750" indent="-285750">
              <a:buBlip>
                <a:blip r:embed="rId2"/>
              </a:buBlip>
            </a:pPr>
            <a:r>
              <a:rPr lang="de-DE" sz="2800">
                <a:latin typeface="+mn-lt"/>
              </a:rPr>
              <a:t>Enthält die Domain </a:t>
            </a:r>
            <a:r>
              <a:rPr lang="de-DE" sz="2000">
                <a:latin typeface="+mn-lt"/>
              </a:rPr>
              <a:t>(</a:t>
            </a:r>
            <a:r>
              <a:rPr lang="de-DE" sz="2000"/>
              <a:t>Quasi die </a:t>
            </a:r>
            <a:r>
              <a:rPr lang="de-DE" sz="2000">
                <a:latin typeface="+mn-lt"/>
              </a:rPr>
              <a:t>Adresse des Servers)</a:t>
            </a:r>
            <a:br>
              <a:rPr lang="de-DE" sz="2000">
                <a:latin typeface="+mn-lt"/>
              </a:rPr>
            </a:br>
            <a:r>
              <a:rPr lang="de-DE" sz="2000">
                <a:latin typeface="+mn-lt"/>
              </a:rPr>
              <a:t>Zusammengesetzt aus Subdomain, Name und TLD (Top-Level-Domain z.B. .</a:t>
            </a:r>
            <a:r>
              <a:rPr lang="de-DE" sz="2000" err="1">
                <a:latin typeface="+mn-lt"/>
              </a:rPr>
              <a:t>com</a:t>
            </a:r>
            <a:r>
              <a:rPr lang="de-DE" sz="2000">
                <a:latin typeface="+mn-lt"/>
              </a:rPr>
              <a:t>, .</a:t>
            </a:r>
            <a:r>
              <a:rPr lang="de-DE" sz="2000" err="1">
                <a:latin typeface="+mn-lt"/>
              </a:rPr>
              <a:t>ch</a:t>
            </a:r>
            <a:r>
              <a:rPr lang="de-DE" sz="2000">
                <a:latin typeface="+mn-lt"/>
              </a:rPr>
              <a:t>, .net)</a:t>
            </a:r>
          </a:p>
          <a:p>
            <a:pPr marL="285750" indent="-285750">
              <a:buBlip>
                <a:blip r:embed="rId2"/>
              </a:buBlip>
            </a:pPr>
            <a:r>
              <a:rPr lang="de-DE" sz="2800">
                <a:latin typeface="+mn-lt"/>
              </a:rPr>
              <a:t>Kann einen Pfad enthalten</a:t>
            </a:r>
          </a:p>
          <a:p>
            <a:pPr marL="285750" indent="-285750">
              <a:buBlip>
                <a:blip r:embed="rId2"/>
              </a:buBlip>
            </a:pPr>
            <a:r>
              <a:rPr lang="de-DE"/>
              <a:t>Kann einen Parameter oder Anker enthalten</a:t>
            </a:r>
            <a:endParaRPr lang="de-DE" sz="2800">
              <a:latin typeface="+mn-lt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657D858-4A6B-06A8-8DB0-345EE6B55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A23BEB4-3B1E-3C38-F854-5CFF266D0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C4299C7-5618-9397-4D67-A77D458A8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12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DCC720B-10F0-F366-DD3F-A36FB486F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URL nicht «nur» eine Adresse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79D3304-597F-20D4-699B-6E6A2375ACA4}"/>
              </a:ext>
            </a:extLst>
          </p:cNvPr>
          <p:cNvSpPr txBox="1"/>
          <p:nvPr/>
        </p:nvSpPr>
        <p:spPr>
          <a:xfrm>
            <a:off x="619200" y="5822668"/>
            <a:ext cx="6642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/>
              <a:t>Quelle: </a:t>
            </a:r>
            <a:r>
              <a:rPr lang="de-CH">
                <a:hlinkClick r:id="rId3"/>
              </a:rPr>
              <a:t>https://de.wikipedia.org/wiki/Uniform_Resource_Locator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83627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69AC5EC-9715-D2AC-11EC-0A4B6ED64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FEB5F92-8C97-1D75-CB38-282FB812E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FAB7A67-5962-B0CF-4071-412360C43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13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A6B2BD-2ADC-1467-29C6-0ED914389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URL im Detail erklärt</a:t>
            </a:r>
          </a:p>
        </p:txBody>
      </p:sp>
      <p:pic>
        <p:nvPicPr>
          <p:cNvPr id="7" name="Onlinemedien 6" title="Internet Tips: Understanding URLs">
            <a:hlinkClick r:id="" action="ppaction://media"/>
            <a:extLst>
              <a:ext uri="{FF2B5EF4-FFF2-40B4-BE49-F238E27FC236}">
                <a16:creationId xmlns:a16="http://schemas.microsoft.com/office/drawing/2014/main" id="{E406BE2E-A693-14BB-19AF-7E112EEA613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43268" y="1656000"/>
            <a:ext cx="8240712" cy="465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57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905511C-CEA2-78F8-F357-F63FF4660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C6BAD5A-3353-94BD-A73C-FBF179C32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22EACC8-1705-513A-56BD-2D7B348A4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14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B9E52DE-C99D-94C7-6D92-0510C1744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URL-Aufbau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57435937-673F-6FB3-2E00-C3C92C0F6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200" y="2704276"/>
            <a:ext cx="7836498" cy="2999240"/>
          </a:xfrm>
          <a:noFill/>
          <a:ln w="28575">
            <a:noFill/>
            <a:prstDash val="solid"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de-CH" sz="1800">
                <a:solidFill>
                  <a:srgbClr val="FF0000"/>
                </a:solidFill>
              </a:rPr>
              <a:t>Schema – mittels welcher Methode wird die Ressource angesprochen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de-CH" sz="1800">
                <a:solidFill>
                  <a:srgbClr val="FFC000"/>
                </a:solidFill>
              </a:rPr>
              <a:t>Host – auf welchem Endknoten/Server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de-CH" sz="1800">
                <a:solidFill>
                  <a:srgbClr val="00B050"/>
                </a:solidFill>
              </a:rPr>
              <a:t>Port – welcher Verbindungspunkt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de-CH" sz="1800">
                <a:solidFill>
                  <a:srgbClr val="0070C0"/>
                </a:solidFill>
              </a:rPr>
              <a:t>Pfad – in welchem Verzeichnis auf dem Host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de-CH" sz="1800">
                <a:solidFill>
                  <a:srgbClr val="7030A0"/>
                </a:solidFill>
              </a:rPr>
              <a:t>Parameter – Daten/Werte, welche der Ressource übergeben werden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de-CH" sz="1800">
                <a:solidFill>
                  <a:srgbClr val="FF66FF"/>
                </a:solidFill>
              </a:rPr>
              <a:t>Fragment/Anker – spezifischer Absatz innerhalb des HTML-Dokumentes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30F2543B-0352-A3B6-4183-E33DE3D92F99}"/>
              </a:ext>
            </a:extLst>
          </p:cNvPr>
          <p:cNvSpPr txBox="1">
            <a:spLocks/>
          </p:cNvSpPr>
          <p:nvPr/>
        </p:nvSpPr>
        <p:spPr>
          <a:xfrm>
            <a:off x="619200" y="1937850"/>
            <a:ext cx="8699232" cy="6634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2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14500" indent="-3429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Symbol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CH">
                <a:solidFill>
                  <a:srgbClr val="FF0000"/>
                </a:solidFill>
              </a:rPr>
              <a:t>https://</a:t>
            </a:r>
            <a:r>
              <a:rPr lang="de-CH">
                <a:solidFill>
                  <a:srgbClr val="FFC000"/>
                </a:solidFill>
              </a:rPr>
              <a:t>www.beispiel.com:</a:t>
            </a:r>
            <a:r>
              <a:rPr lang="de-CH">
                <a:solidFill>
                  <a:srgbClr val="00B050"/>
                </a:solidFill>
              </a:rPr>
              <a:t>3000</a:t>
            </a:r>
            <a:r>
              <a:rPr lang="de-CH">
                <a:solidFill>
                  <a:srgbClr val="0070C0"/>
                </a:solidFill>
              </a:rPr>
              <a:t>/pfad/ressource</a:t>
            </a:r>
            <a:r>
              <a:rPr lang="de-CH">
                <a:solidFill>
                  <a:srgbClr val="7030A0"/>
                </a:solidFill>
              </a:rPr>
              <a:t>?id=123</a:t>
            </a:r>
            <a:r>
              <a:rPr lang="de-CH">
                <a:solidFill>
                  <a:srgbClr val="FF66FF"/>
                </a:solidFill>
              </a:rPr>
              <a:t>#absatz</a:t>
            </a:r>
          </a:p>
        </p:txBody>
      </p:sp>
    </p:spTree>
    <p:extLst>
      <p:ext uri="{BB962C8B-B14F-4D97-AF65-F5344CB8AC3E}">
        <p14:creationId xmlns:p14="http://schemas.microsoft.com/office/powerpoint/2010/main" val="3884583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sz="2800" dirty="0">
                <a:latin typeface="Segoe UI (Textkörper)"/>
              </a:rPr>
              <a:t>HTTP(s) </a:t>
            </a:r>
            <a:r>
              <a:rPr lang="de-DE" sz="2800" dirty="0">
                <a:latin typeface="Segoe UI (Textkörper)"/>
                <a:sym typeface="Wingdings" panose="05000000000000000000" pitchFamily="2" charset="2"/>
              </a:rPr>
              <a:t> Übertragung</a:t>
            </a:r>
            <a:endParaRPr lang="de-DE" sz="2800" dirty="0">
              <a:latin typeface="Segoe UI (Textkörper)"/>
            </a:endParaRPr>
          </a:p>
          <a:p>
            <a:pPr marL="285750" indent="-285750">
              <a:buBlip>
                <a:blip r:embed="rId2"/>
              </a:buBlip>
            </a:pPr>
            <a:r>
              <a:rPr lang="de-DE" sz="2800" dirty="0">
                <a:latin typeface="Segoe UI (Textkörper)"/>
              </a:rPr>
              <a:t>steht für </a:t>
            </a:r>
            <a:r>
              <a:rPr lang="de-DE" sz="2800" dirty="0">
                <a:solidFill>
                  <a:srgbClr val="FF0000"/>
                </a:solidFill>
                <a:latin typeface="Segoe UI (Textkörper)"/>
              </a:rPr>
              <a:t>Hypertext Transfer Protocol (Secure)</a:t>
            </a:r>
          </a:p>
          <a:p>
            <a:pPr marL="285750" indent="-285750">
              <a:lnSpc>
                <a:spcPct val="120000"/>
              </a:lnSpc>
              <a:buBlip>
                <a:blip r:embed="rId2"/>
              </a:buBlip>
            </a:pPr>
            <a:r>
              <a:rPr lang="de-DE" sz="2800" dirty="0">
                <a:latin typeface="Segoe UI (Textkörper)"/>
              </a:rPr>
              <a:t>regelt die Übertragung von HTML-Dokumenten von Webservern zu Webbrowsern</a:t>
            </a:r>
          </a:p>
          <a:p>
            <a:pPr marL="285750" indent="-285750">
              <a:buBlip>
                <a:blip r:embed="rId2"/>
              </a:buBlip>
            </a:pPr>
            <a:r>
              <a:rPr lang="de-CH" dirty="0">
                <a:latin typeface="Segoe UI (Textkörper)"/>
              </a:rPr>
              <a:t>e</a:t>
            </a:r>
            <a:r>
              <a:rPr lang="de-CH" sz="2800" dirty="0">
                <a:latin typeface="Segoe UI (Textkörper)"/>
              </a:rPr>
              <a:t>rmöglicht das Senden bzw. Empfangen von Daten </a:t>
            </a:r>
            <a:r>
              <a:rPr lang="de-CH" dirty="0">
                <a:latin typeface="Segoe UI (Textkörper)"/>
              </a:rPr>
              <a:t>an den </a:t>
            </a:r>
            <a:r>
              <a:rPr lang="de-CH" sz="2800" dirty="0">
                <a:latin typeface="Segoe UI (Textkörper)"/>
              </a:rPr>
              <a:t>Webserver</a:t>
            </a:r>
          </a:p>
          <a:p>
            <a:endParaRPr lang="de-DE" sz="2800" dirty="0">
              <a:latin typeface="Segoe UI (Textkörper)"/>
            </a:endParaRPr>
          </a:p>
          <a:p>
            <a:r>
              <a:rPr lang="de-DE" sz="2800" dirty="0">
                <a:latin typeface="Segoe UI (Textkörper)"/>
              </a:rPr>
              <a:t>HTML (Auszeichnungssprache)</a:t>
            </a:r>
          </a:p>
          <a:p>
            <a:pPr marL="285750" indent="-285750">
              <a:buBlip>
                <a:blip r:embed="rId2"/>
              </a:buBlip>
            </a:pPr>
            <a:r>
              <a:rPr lang="de-DE" sz="2800" dirty="0">
                <a:latin typeface="Segoe UI (Textkörper)"/>
              </a:rPr>
              <a:t>steht für </a:t>
            </a:r>
            <a:r>
              <a:rPr lang="de-DE" sz="2800" dirty="0">
                <a:solidFill>
                  <a:srgbClr val="FF0000"/>
                </a:solidFill>
                <a:latin typeface="Segoe UI (Textkörper)"/>
              </a:rPr>
              <a:t>Hypertext Markup Language</a:t>
            </a:r>
          </a:p>
          <a:p>
            <a:pPr marL="285750" indent="-285750">
              <a:buBlip>
                <a:blip r:embed="rId2"/>
              </a:buBlip>
            </a:pPr>
            <a:r>
              <a:rPr lang="de-DE" sz="2800" dirty="0">
                <a:latin typeface="Segoe UI (Textkörper)"/>
              </a:rPr>
              <a:t>dient der Gliederung und Darstellung von Informationen auf Webseiten</a:t>
            </a:r>
          </a:p>
          <a:p>
            <a:pPr marL="285750" indent="-285750">
              <a:buBlip>
                <a:blip r:embed="rId2"/>
              </a:buBlip>
            </a:pPr>
            <a:r>
              <a:rPr lang="de-DE" sz="2800" dirty="0">
                <a:latin typeface="Segoe UI (Textkörper)"/>
              </a:rPr>
              <a:t>ermöglicht die </a:t>
            </a:r>
            <a:r>
              <a:rPr lang="de-DE" sz="2800" dirty="0" err="1">
                <a:latin typeface="Segoe UI (Textkörper)"/>
              </a:rPr>
              <a:t>Referenzierung</a:t>
            </a:r>
            <a:r>
              <a:rPr lang="de-DE" sz="2800" dirty="0">
                <a:latin typeface="Segoe UI (Textkörper)"/>
              </a:rPr>
              <a:t> anderer Seiten via Hyperlinks</a:t>
            </a:r>
          </a:p>
          <a:p>
            <a:pPr marL="285750" indent="-285750">
              <a:buBlip>
                <a:blip r:embed="rId2"/>
              </a:buBlip>
            </a:pPr>
            <a:r>
              <a:rPr lang="de-DE" sz="2800" dirty="0">
                <a:latin typeface="Segoe UI (Textkörper)"/>
              </a:rPr>
              <a:t>kann durch einen Webbrowser interpretiert und dargestellt werden</a:t>
            </a:r>
          </a:p>
          <a:p>
            <a:pPr marL="285750" indent="-285750">
              <a:buBlip>
                <a:blip r:embed="rId2"/>
              </a:buBlip>
            </a:pPr>
            <a:endParaRPr lang="de-DE" sz="2800" dirty="0">
              <a:latin typeface="Segoe UI (Textkörper)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15</a:t>
            </a:fld>
            <a:endParaRPr lang="de-CH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HTTP(s) / HTML</a:t>
            </a:r>
            <a:br>
              <a:rPr lang="de-CH"/>
            </a:b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31657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D6037-E848-2356-4C7E-1F7C5B997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6023B7E-34F0-609E-4BFD-0A6CD69A0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B3D6B9-5BBB-D976-C754-8863374E1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C17199-7B01-F2C1-0987-3D3110AD8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16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8014856-5588-0FAA-3A19-F0FA5507C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HTTP Request / Response</a:t>
            </a:r>
          </a:p>
        </p:txBody>
      </p:sp>
      <p:pic>
        <p:nvPicPr>
          <p:cNvPr id="9" name="Onlinemedien 8" title="HTTP Request Methods | GET, POST, PUT, DELETE">
            <a:hlinkClick r:id="" action="ppaction://media"/>
            <a:extLst>
              <a:ext uri="{FF2B5EF4-FFF2-40B4-BE49-F238E27FC236}">
                <a16:creationId xmlns:a16="http://schemas.microsoft.com/office/drawing/2014/main" id="{F4274786-784F-306B-5026-CE40180403A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19200" y="1680116"/>
            <a:ext cx="8082348" cy="456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23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17</a:t>
            </a:fld>
            <a:endParaRPr lang="de-CH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HTTP(s) / HTML</a:t>
            </a:r>
            <a:br>
              <a:rPr lang="de-CH"/>
            </a:br>
            <a:endParaRPr lang="de-CH"/>
          </a:p>
        </p:txBody>
      </p:sp>
      <p:pic>
        <p:nvPicPr>
          <p:cNvPr id="11" name="Onlinemedien 10" title="HTTP and HTML | Internet 101 | Computer Science | Khan Academy">
            <a:hlinkClick r:id="" action="ppaction://media"/>
            <a:extLst>
              <a:ext uri="{FF2B5EF4-FFF2-40B4-BE49-F238E27FC236}">
                <a16:creationId xmlns:a16="http://schemas.microsoft.com/office/drawing/2014/main" id="{BDAA16B6-5FD9-70C5-9841-0B873703407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43268" y="1656000"/>
            <a:ext cx="8209043" cy="463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688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8EF1E4E-EBC7-E2BD-D668-17C73FAF5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F69AF51-1AEC-2B5C-4174-E455E50DF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5D2E4A2-4327-198A-1F6B-1A35A018D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18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2C6BD53-72AC-C0E1-DE9F-702F2186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HTTP Request / Respons</a:t>
            </a:r>
          </a:p>
        </p:txBody>
      </p:sp>
      <p:pic>
        <p:nvPicPr>
          <p:cNvPr id="8" name="Onlinemedien 7" title="Parts of an HTTP Request">
            <a:hlinkClick r:id="" action="ppaction://media"/>
            <a:extLst>
              <a:ext uri="{FF2B5EF4-FFF2-40B4-BE49-F238E27FC236}">
                <a16:creationId xmlns:a16="http://schemas.microsoft.com/office/drawing/2014/main" id="{77C6D166-3A24-7A20-22FB-9A68F6D090C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43268" y="1656000"/>
            <a:ext cx="8134866" cy="459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19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97EF430-78D2-91D1-3EF6-C4AF895F4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3CFD6AB-CA2A-EE0E-090A-9DE9CC984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68B441F-5B12-CA4E-A06D-289421D98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D1733D-079A-9130-9233-5E33A501A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19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9B3D69B-EB96-AF6E-530D-63C5EBE17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HTTP Response im Detail</a:t>
            </a:r>
          </a:p>
        </p:txBody>
      </p:sp>
      <p:pic>
        <p:nvPicPr>
          <p:cNvPr id="2" name="Onlinemedien 1" title="HTTP Response">
            <a:hlinkClick r:id="" action="ppaction://media"/>
            <a:extLst>
              <a:ext uri="{FF2B5EF4-FFF2-40B4-BE49-F238E27FC236}">
                <a16:creationId xmlns:a16="http://schemas.microsoft.com/office/drawing/2014/main" id="{B9F3FEDF-E27B-CF26-0096-73FEF11819E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41120" y="1623060"/>
            <a:ext cx="8247114" cy="465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949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/>
          <p:cNvSpPr>
            <a:spLocks noGrp="1"/>
          </p:cNvSpPr>
          <p:nvPr>
            <p:ph type="body" idx="1"/>
          </p:nvPr>
        </p:nvSpPr>
        <p:spPr>
          <a:xfrm>
            <a:off x="615789" y="1808458"/>
            <a:ext cx="5472000" cy="426221"/>
          </a:xfrm>
        </p:spPr>
        <p:txBody>
          <a:bodyPr/>
          <a:lstStyle/>
          <a:p>
            <a:r>
              <a:rPr lang="de-CH"/>
              <a:t>Request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3"/>
          </p:nvPr>
        </p:nvSpPr>
        <p:spPr>
          <a:xfrm>
            <a:off x="6296588" y="1808458"/>
            <a:ext cx="5472000" cy="426221"/>
          </a:xfrm>
        </p:spPr>
        <p:txBody>
          <a:bodyPr/>
          <a:lstStyle/>
          <a:p>
            <a:r>
              <a:rPr lang="de-CH"/>
              <a:t>Response</a:t>
            </a:r>
          </a:p>
        </p:txBody>
      </p:sp>
      <p:sp>
        <p:nvSpPr>
          <p:cNvPr id="12" name="Inhaltsplatzhalter 11"/>
          <p:cNvSpPr>
            <a:spLocks noGrp="1"/>
          </p:cNvSpPr>
          <p:nvPr>
            <p:ph sz="quarter" idx="4"/>
          </p:nvPr>
        </p:nvSpPr>
        <p:spPr>
          <a:xfrm>
            <a:off x="615789" y="4507867"/>
            <a:ext cx="5169279" cy="1360232"/>
          </a:xfrm>
        </p:spPr>
        <p:txBody>
          <a:bodyPr>
            <a:normAutofit/>
          </a:bodyPr>
          <a:lstStyle/>
          <a:p>
            <a:r>
              <a:rPr lang="de-CH" sz="1800" b="1"/>
              <a:t>Request Line: </a:t>
            </a:r>
            <a:r>
              <a:rPr lang="de-CH" sz="1800"/>
              <a:t>Methode oder Verb, Pfad und HTTP-Version</a:t>
            </a:r>
          </a:p>
          <a:p>
            <a:r>
              <a:rPr lang="de-CH" sz="1800" b="1"/>
              <a:t>Request Header: </a:t>
            </a:r>
            <a:r>
              <a:rPr lang="de-CH" sz="1800"/>
              <a:t>Host, User-Agent usw.</a:t>
            </a:r>
          </a:p>
          <a:p>
            <a:r>
              <a:rPr lang="de-CH" sz="1800" b="1"/>
              <a:t>Request Body: </a:t>
            </a:r>
            <a:r>
              <a:rPr lang="de-CH" sz="1800"/>
              <a:t>Inhalt / Daten (z.B. Parameter)</a:t>
            </a:r>
            <a:endParaRPr lang="de-CH" sz="2000"/>
          </a:p>
          <a:p>
            <a:endParaRPr lang="de-CH" sz="180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Request </a:t>
            </a:r>
            <a:r>
              <a:rPr lang="de-CH">
                <a:sym typeface="Wingdings" panose="05000000000000000000" pitchFamily="2" charset="2"/>
              </a:rPr>
              <a:t> Response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20</a:t>
            </a:fld>
            <a:endParaRPr lang="de-CH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2F1A2CE-36A3-1D52-8B70-200B81101D1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89" y="2330971"/>
            <a:ext cx="5472113" cy="18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2540F45-4E18-7EF3-4897-75DB36780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6505" y="2325847"/>
            <a:ext cx="4874277" cy="184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FBEC2BFE-8C67-B434-3ECB-ADEF3D60ABB4}"/>
              </a:ext>
            </a:extLst>
          </p:cNvPr>
          <p:cNvSpPr txBox="1">
            <a:spLocks/>
          </p:cNvSpPr>
          <p:nvPr/>
        </p:nvSpPr>
        <p:spPr>
          <a:xfrm>
            <a:off x="6296523" y="4507867"/>
            <a:ext cx="5356644" cy="1360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82C7"/>
              </a:buClr>
              <a:buSzPct val="80000"/>
              <a:buFontTx/>
              <a:buBlip>
                <a:blip r:embed="rId4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sz="1800" b="1"/>
              <a:t>Status Line: </a:t>
            </a:r>
            <a:r>
              <a:rPr lang="de-CH" sz="1800"/>
              <a:t>HTTP-Version und Status-Code</a:t>
            </a:r>
          </a:p>
          <a:p>
            <a:r>
              <a:rPr lang="de-CH" sz="1800" b="1"/>
              <a:t>Response Header: </a:t>
            </a:r>
            <a:r>
              <a:rPr lang="de-CH" sz="1800"/>
              <a:t>Datum, Server-Info, Inhaltstyp, Inhaltslänge usw.</a:t>
            </a:r>
          </a:p>
          <a:p>
            <a:r>
              <a:rPr lang="de-CH" sz="1800" b="1"/>
              <a:t>Response Body: </a:t>
            </a:r>
            <a:r>
              <a:rPr lang="de-CH" sz="1800"/>
              <a:t>Inhalt / Daten (z.B. HTML-Code)</a:t>
            </a:r>
            <a:endParaRPr lang="de-CH" sz="2000"/>
          </a:p>
          <a:p>
            <a:endParaRPr lang="de-CH" sz="1800"/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26A6E578-BF9B-8973-DB5F-68CEC2BED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3298" y="431638"/>
            <a:ext cx="2914089" cy="184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3701116C-353A-95BF-7E89-B9C574A6B96B}"/>
              </a:ext>
            </a:extLst>
          </p:cNvPr>
          <p:cNvCxnSpPr>
            <a:cxnSpLocks/>
          </p:cNvCxnSpPr>
          <p:nvPr/>
        </p:nvCxnSpPr>
        <p:spPr>
          <a:xfrm flipV="1">
            <a:off x="7227116" y="1701584"/>
            <a:ext cx="2248657" cy="765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7418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7FACC7D-0FEB-0BB1-AC14-7112D8F58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de-CH" sz="2400" b="1" dirty="0"/>
              <a:t>URL (Uniform </a:t>
            </a:r>
            <a:r>
              <a:rPr lang="de-CH" sz="2400" b="1" dirty="0" err="1"/>
              <a:t>Resource</a:t>
            </a:r>
            <a:r>
              <a:rPr lang="de-CH" sz="2400" b="1" dirty="0"/>
              <a:t> Locator)</a:t>
            </a:r>
            <a:br>
              <a:rPr lang="de-CH" sz="2400" b="1" dirty="0"/>
            </a:br>
            <a:r>
              <a:rPr lang="de-CH" sz="2300" dirty="0"/>
              <a:t>Standardisierte Webadresse für die Identifizierung von Ressourcen im Internet.</a:t>
            </a:r>
          </a:p>
          <a:p>
            <a:pPr>
              <a:lnSpc>
                <a:spcPct val="110000"/>
              </a:lnSpc>
            </a:pPr>
            <a:r>
              <a:rPr lang="de-CH" sz="2400" b="1" dirty="0"/>
              <a:t>HTTP (Hypertext Transfer Protocol)</a:t>
            </a:r>
            <a:br>
              <a:rPr lang="de-CH" sz="2400" b="1" dirty="0"/>
            </a:br>
            <a:r>
              <a:rPr lang="de-CH" sz="2300" dirty="0"/>
              <a:t>Standardprotokoll für die Kommunikation zwischen Webbrowsern und Servern.</a:t>
            </a:r>
          </a:p>
          <a:p>
            <a:pPr>
              <a:lnSpc>
                <a:spcPct val="110000"/>
              </a:lnSpc>
            </a:pPr>
            <a:r>
              <a:rPr lang="de-CH" sz="2400" b="1" dirty="0"/>
              <a:t>HTML (Hypertext Markup Language)</a:t>
            </a:r>
            <a:br>
              <a:rPr lang="de-CH" sz="2400" b="1" dirty="0"/>
            </a:br>
            <a:r>
              <a:rPr lang="de-CH" sz="2300" dirty="0"/>
              <a:t>Auszeichnungssprache zur Strukturierung von Webinhalten durch Tags.</a:t>
            </a:r>
          </a:p>
          <a:p>
            <a:pPr>
              <a:lnSpc>
                <a:spcPct val="110000"/>
              </a:lnSpc>
            </a:pPr>
            <a:r>
              <a:rPr lang="de-CH" sz="2400" b="1" dirty="0"/>
              <a:t>HTTP Request (Anfrage) &amp; Response (Antwort)</a:t>
            </a:r>
            <a:br>
              <a:rPr lang="de-CH" sz="2400" b="1" dirty="0"/>
            </a:br>
            <a:r>
              <a:rPr lang="de-CH" sz="2300" dirty="0"/>
              <a:t>Clients senden Anfragen, Server antworten mit Statuscodes und ggf. Daten.</a:t>
            </a:r>
            <a:br>
              <a:rPr lang="de-CH" sz="2300" dirty="0"/>
            </a:br>
            <a:r>
              <a:rPr lang="de-CH" sz="2300" dirty="0"/>
              <a:t>GET, POST, PUT, DELETE sind typische Anfragemethoden.</a:t>
            </a:r>
          </a:p>
          <a:p>
            <a:pPr>
              <a:lnSpc>
                <a:spcPct val="110000"/>
              </a:lnSpc>
            </a:pPr>
            <a:r>
              <a:rPr lang="de-CH" sz="2400" b="1" dirty="0"/>
              <a:t>Beispielhafter Ablauf</a:t>
            </a:r>
            <a:br>
              <a:rPr lang="de-CH" dirty="0"/>
            </a:br>
            <a:r>
              <a:rPr lang="de-CH" sz="2300" dirty="0"/>
              <a:t>Client sendet Anfrage (Request) an Server über eine URL.</a:t>
            </a:r>
            <a:br>
              <a:rPr lang="de-CH" sz="2300" dirty="0"/>
            </a:br>
            <a:r>
              <a:rPr lang="de-CH" sz="2300" dirty="0"/>
              <a:t>Server verarbeitet und sendet Antwort (HTML und/oder CSS-Inhalt) sowie den Statuscode.</a:t>
            </a:r>
            <a:br>
              <a:rPr lang="de-CH" sz="2300" dirty="0"/>
            </a:br>
            <a:r>
              <a:rPr lang="de-CH" sz="2300" dirty="0"/>
              <a:t>Anfragen sind immer «</a:t>
            </a:r>
            <a:r>
              <a:rPr lang="de-CH" sz="2300" dirty="0" err="1"/>
              <a:t>stateless</a:t>
            </a:r>
            <a:r>
              <a:rPr lang="de-CH" sz="2300" dirty="0"/>
              <a:t>»</a:t>
            </a:r>
            <a:br>
              <a:rPr lang="de-CH" sz="2300" dirty="0"/>
            </a:br>
            <a:r>
              <a:rPr lang="de-CH" sz="1500" dirty="0"/>
              <a:t>(</a:t>
            </a:r>
            <a:r>
              <a:rPr lang="de-CH" sz="1500" i="0" dirty="0">
                <a:solidFill>
                  <a:srgbClr val="202122"/>
                </a:solidFill>
                <a:effectLst/>
              </a:rPr>
              <a:t>Der Kommunikationsteilnehmer speichert keinen Protokollzustand und kann Anfragen desselben Auftraggebers somit nicht miteinander in Verbindung setzen)</a:t>
            </a:r>
            <a:endParaRPr lang="de-CH" sz="150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F38D1CA-E536-2C8A-18D7-4A05BCFEB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4CB65C-176C-CEB7-DA9C-CF22DC32B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D699A4A-873A-992B-93E7-AA3098115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21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E5423A3-9FA7-0893-31C2-717732BE0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Zusammenfassung</a:t>
            </a:r>
          </a:p>
        </p:txBody>
      </p:sp>
    </p:spTree>
    <p:extLst>
      <p:ext uri="{BB962C8B-B14F-4D97-AF65-F5344CB8AC3E}">
        <p14:creationId xmlns:p14="http://schemas.microsoft.com/office/powerpoint/2010/main" val="1729795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B9BE0E1-76E6-9960-5A30-4F52F4B4A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300" y="1872000"/>
            <a:ext cx="11160000" cy="4320000"/>
          </a:xfrm>
        </p:spPr>
        <p:txBody>
          <a:bodyPr>
            <a:normAutofit fontScale="92500" lnSpcReduction="20000"/>
          </a:bodyPr>
          <a:lstStyle/>
          <a:p>
            <a:r>
              <a:rPr lang="de-CH"/>
              <a:t>Visual Studio Code (installieren) einrichten</a:t>
            </a:r>
          </a:p>
          <a:p>
            <a:r>
              <a:rPr lang="de-CH"/>
              <a:t>Erweiterung «Live Server» und «</a:t>
            </a:r>
            <a:r>
              <a:rPr lang="de-CH" err="1"/>
              <a:t>Prettier</a:t>
            </a:r>
            <a:r>
              <a:rPr lang="de-CH"/>
              <a:t>-Code </a:t>
            </a:r>
            <a:r>
              <a:rPr lang="de-CH" err="1"/>
              <a:t>formatter</a:t>
            </a:r>
            <a:r>
              <a:rPr lang="de-CH"/>
              <a:t>» installieren</a:t>
            </a:r>
          </a:p>
          <a:p>
            <a:r>
              <a:rPr lang="de-CH"/>
              <a:t>Verzeichnis für M293 anlegen (so dass ihr es wieder findet)</a:t>
            </a:r>
          </a:p>
          <a:p>
            <a:r>
              <a:rPr lang="de-CH"/>
              <a:t>Unterverzeichnis 01_DemoPage anlegen</a:t>
            </a:r>
          </a:p>
          <a:p>
            <a:r>
              <a:rPr lang="de-CH"/>
              <a:t>01_DemoPage aus VS-Code öffnen</a:t>
            </a:r>
          </a:p>
          <a:p>
            <a:r>
              <a:rPr lang="de-CH"/>
              <a:t>Datei index.html erstellen</a:t>
            </a:r>
          </a:p>
          <a:p>
            <a:r>
              <a:rPr lang="de-CH"/>
              <a:t>Mit </a:t>
            </a:r>
            <a:r>
              <a:rPr lang="de-CH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html:5</a:t>
            </a:r>
            <a:r>
              <a:rPr lang="de-CH"/>
              <a:t> ein HTML-Grundgerüst erstellen</a:t>
            </a:r>
          </a:p>
          <a:p>
            <a:r>
              <a:rPr lang="de-CH"/>
              <a:t>Titel im &lt;title&gt; Tag auf einen beliebigen Titel ändern</a:t>
            </a:r>
          </a:p>
          <a:p>
            <a:r>
              <a:rPr lang="de-CH"/>
              <a:t>Einen beliebigen Text (z.B. Hello World!) im &lt;</a:t>
            </a:r>
            <a:r>
              <a:rPr lang="de-CH" err="1"/>
              <a:t>body</a:t>
            </a:r>
            <a:r>
              <a:rPr lang="de-CH"/>
              <a:t>&gt; Tag einfügen</a:t>
            </a:r>
          </a:p>
          <a:p>
            <a:r>
              <a:rPr lang="de-CH"/>
              <a:t>Mit Alt + L + O den Live Server starten </a:t>
            </a:r>
            <a:r>
              <a:rPr lang="de-CH">
                <a:sym typeface="Wingdings" panose="05000000000000000000" pitchFamily="2" charset="2"/>
              </a:rPr>
              <a:t> Webseite erscheint im Browser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9625F90-7F75-7021-204C-9DFD0D7E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16DECD-8486-7336-C465-7C5145FB3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83184FE-AAD9-A6EF-FEDB-3871E4FCB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22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332619A-97CA-B964-F927-77546A3A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Aufgabe</a:t>
            </a:r>
          </a:p>
        </p:txBody>
      </p:sp>
    </p:spTree>
    <p:extLst>
      <p:ext uri="{BB962C8B-B14F-4D97-AF65-F5344CB8AC3E}">
        <p14:creationId xmlns:p14="http://schemas.microsoft.com/office/powerpoint/2010/main" val="3606767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A9A784A-649E-48FD-C2CD-788C04285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kurze Einführung in der nächsten Lektion</a:t>
            </a:r>
          </a:p>
          <a:p>
            <a:r>
              <a:rPr lang="de-CH" dirty="0"/>
              <a:t>kann z.B. später z.B. als Referenzen benutzt werden</a:t>
            </a:r>
          </a:p>
          <a:p>
            <a:r>
              <a:rPr lang="de-CH" dirty="0"/>
              <a:t>Hilft euch, Code professionell und sauber zu verwalten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BF9719F-AC16-86B0-8A43-F82D97FA2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BC6DD28-E1B9-84A3-2A90-CC5442634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F48E4DE-2165-32A9-A6CF-1FCFE26D3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23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FBED157-CCBB-16CE-BFD0-720A605AA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Git</a:t>
            </a:r>
            <a:r>
              <a:rPr lang="de-CH" dirty="0"/>
              <a:t>-Repository</a:t>
            </a:r>
          </a:p>
        </p:txBody>
      </p:sp>
    </p:spTree>
    <p:extLst>
      <p:ext uri="{BB962C8B-B14F-4D97-AF65-F5344CB8AC3E}">
        <p14:creationId xmlns:p14="http://schemas.microsoft.com/office/powerpoint/2010/main" val="36932339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924D01E-B7A7-416A-E517-07C6F11B2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sz="2000">
                <a:hlinkClick r:id="rId2"/>
              </a:rPr>
              <a:t>https://www.w3schools.com/html/</a:t>
            </a:r>
            <a:endParaRPr lang="de-CH" sz="2000">
              <a:hlinkClick r:id="rId3"/>
            </a:endParaRPr>
          </a:p>
          <a:p>
            <a:pPr marL="0" indent="0">
              <a:buNone/>
            </a:pPr>
            <a:r>
              <a:rPr lang="de-CH" sz="2000">
                <a:hlinkClick r:id="rId3"/>
              </a:rPr>
              <a:t>https://www.codecademy.com/learn/learn-html/modules/learn-html-elements/cheatsheet</a:t>
            </a:r>
            <a:endParaRPr lang="de-CH" sz="2000"/>
          </a:p>
          <a:p>
            <a:pPr marL="0" indent="0">
              <a:buNone/>
            </a:pPr>
            <a:endParaRPr lang="de-CH"/>
          </a:p>
          <a:p>
            <a:r>
              <a:rPr lang="de-CH"/>
              <a:t>Durchlesen und verschiedene Punkte / Elemente selbst ausprobieren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3AC0233-1E88-E837-85A6-294B222FC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6E0E23-E143-8073-B5A1-A1015BAE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F5C72F4-E0EB-D30B-8674-D78F4BDB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24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AB6F2C1-53DB-62DA-3E2F-E82F16145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Selbststudium</a:t>
            </a:r>
          </a:p>
        </p:txBody>
      </p:sp>
    </p:spTree>
    <p:extLst>
      <p:ext uri="{BB962C8B-B14F-4D97-AF65-F5344CB8AC3E}">
        <p14:creationId xmlns:p14="http://schemas.microsoft.com/office/powerpoint/2010/main" val="4178680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D36DFEF-00F2-2747-C849-2EF872BB3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  <a:p>
            <a:endParaRPr lang="de-CH"/>
          </a:p>
          <a:p>
            <a:endParaRPr lang="de-CH"/>
          </a:p>
          <a:p>
            <a:r>
              <a:rPr lang="de-CH"/>
              <a:t>Fragen, Anregungen oder Wünsche?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7A58F6-F5F3-F780-232C-4C0678B5E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C35C4B4-BEFB-3376-A25A-21BAFD2E7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3DD3D4-9DDA-8623-87C8-FD39817AD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25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FC5474C-A215-13C0-8842-73179B732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Abschluss</a:t>
            </a:r>
          </a:p>
        </p:txBody>
      </p:sp>
    </p:spTree>
    <p:extLst>
      <p:ext uri="{BB962C8B-B14F-4D97-AF65-F5344CB8AC3E}">
        <p14:creationId xmlns:p14="http://schemas.microsoft.com/office/powerpoint/2010/main" val="317643917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n Luzern">
  <a:themeElements>
    <a:clrScheme name="Kanton Luzer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66CCFF"/>
      </a:accent1>
      <a:accent2>
        <a:srgbClr val="3399FF"/>
      </a:accent2>
      <a:accent3>
        <a:srgbClr val="0066FF"/>
      </a:accent3>
      <a:accent4>
        <a:srgbClr val="0000FF"/>
      </a:accent4>
      <a:accent5>
        <a:srgbClr val="003399"/>
      </a:accent5>
      <a:accent6>
        <a:srgbClr val="000066"/>
      </a:accent6>
      <a:hlink>
        <a:srgbClr val="7FCAFF"/>
      </a:hlink>
      <a:folHlink>
        <a:srgbClr val="40AFFF"/>
      </a:folHlink>
    </a:clrScheme>
    <a:fontScheme name="Segoe UI">
      <a:majorFont>
        <a:latin typeface="Segoe UI fet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2808E21A-8CEB-4AD8-9B47-87429428C934}" vid="{12467E2D-BDDD-4BA1-991D-8047D18ED07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BD5B87398E0F546803C08AF34E277D4" ma:contentTypeVersion="14" ma:contentTypeDescription="Ein neues Dokument erstellen." ma:contentTypeScope="" ma:versionID="572151e1c4d54ee0088b28abf6d03b1c">
  <xsd:schema xmlns:xsd="http://www.w3.org/2001/XMLSchema" xmlns:xs="http://www.w3.org/2001/XMLSchema" xmlns:p="http://schemas.microsoft.com/office/2006/metadata/properties" xmlns:ns2="08a37d9d-9576-4bab-89c6-ad9e0707cb90" xmlns:ns3="8e922e2c-d434-4569-88ac-67afeec8ca9b" targetNamespace="http://schemas.microsoft.com/office/2006/metadata/properties" ma:root="true" ma:fieldsID="333e42a61cf00a1095387b2f3b7126ae" ns2:_="" ns3:_="">
    <xsd:import namespace="08a37d9d-9576-4bab-89c6-ad9e0707cb90"/>
    <xsd:import namespace="8e922e2c-d434-4569-88ac-67afeec8ca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a37d9d-9576-4bab-89c6-ad9e0707c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Bildmarkierungen" ma:readOnly="false" ma:fieldId="{5cf76f15-5ced-4ddc-b409-7134ff3c332f}" ma:taxonomyMulti="true" ma:sspId="a16ba4c5-514f-471a-8004-1e490f9737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922e2c-d434-4569-88ac-67afeec8ca9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c1dc386-9e29-45f4-b73c-a60483f09fea}" ma:internalName="TaxCatchAll" ma:showField="CatchAllData" ma:web="8e922e2c-d434-4569-88ac-67afeec8ca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8a37d9d-9576-4bab-89c6-ad9e0707cb90">
      <Terms xmlns="http://schemas.microsoft.com/office/infopath/2007/PartnerControls"/>
    </lcf76f155ced4ddcb4097134ff3c332f>
    <TaxCatchAll xmlns="8e922e2c-d434-4569-88ac-67afeec8ca9b" xsi:nil="true"/>
  </documentManagement>
</p:properties>
</file>

<file path=customXml/itemProps1.xml><?xml version="1.0" encoding="utf-8"?>
<ds:datastoreItem xmlns:ds="http://schemas.openxmlformats.org/officeDocument/2006/customXml" ds:itemID="{A245F293-8DFC-4BD8-AC95-BF812F0A42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D60EF6-D3B3-4F3B-898C-07F2B3198F82}"/>
</file>

<file path=customXml/itemProps3.xml><?xml version="1.0" encoding="utf-8"?>
<ds:datastoreItem xmlns:ds="http://schemas.openxmlformats.org/officeDocument/2006/customXml" ds:itemID="{112A089A-249A-42FE-AD24-46BC184A9B1D}">
  <ds:schemaRefs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schemas.microsoft.com/office/2006/documentManagement/types"/>
    <ds:schemaRef ds:uri="ec62de01-3c60-4501-b46d-b2adce299403"/>
    <ds:schemaRef ds:uri="http://schemas.openxmlformats.org/package/2006/metadata/core-properties"/>
    <ds:schemaRef ds:uri="98cc15a3-3e94-4076-998c-63c885c407b0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1058</Words>
  <Application>Microsoft Office PowerPoint</Application>
  <PresentationFormat>Breitbild</PresentationFormat>
  <Paragraphs>183</Paragraphs>
  <Slides>25</Slides>
  <Notes>0</Notes>
  <HiddenSlides>3</HiddenSlides>
  <MMClips>5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1" baseType="lpstr">
      <vt:lpstr>Arial</vt:lpstr>
      <vt:lpstr>Consolas</vt:lpstr>
      <vt:lpstr>Segoe UI</vt:lpstr>
      <vt:lpstr>Segoe UI (Textkörper)</vt:lpstr>
      <vt:lpstr>Wingdings</vt:lpstr>
      <vt:lpstr>Kanton Luzern</vt:lpstr>
      <vt:lpstr>Einführung</vt:lpstr>
      <vt:lpstr>Themen</vt:lpstr>
      <vt:lpstr>Vorstellung Lehrperson</vt:lpstr>
      <vt:lpstr>Gestaltung des Unterrichts</vt:lpstr>
      <vt:lpstr>Überblick Modulinhalte / Grobplanung</vt:lpstr>
      <vt:lpstr>Überblick Modulinhalte / Grobplanung</vt:lpstr>
      <vt:lpstr>Leistungsbeurteilung (LB), Modulnoten </vt:lpstr>
      <vt:lpstr>Regeln Prüfungen</vt:lpstr>
      <vt:lpstr>Fairplay an Prüfungen</vt:lpstr>
      <vt:lpstr>Umfrage</vt:lpstr>
      <vt:lpstr>Heute: Grundlagen der Web-Technologien</vt:lpstr>
      <vt:lpstr>URL nicht «nur» eine Adresse</vt:lpstr>
      <vt:lpstr>URL im Detail erklärt</vt:lpstr>
      <vt:lpstr>URL-Aufbau</vt:lpstr>
      <vt:lpstr>HTTP(s) / HTML </vt:lpstr>
      <vt:lpstr>HTTP Request / Response</vt:lpstr>
      <vt:lpstr>HTTP(s) / HTML </vt:lpstr>
      <vt:lpstr>HTTP Request / Respons</vt:lpstr>
      <vt:lpstr>HTTP Response im Detail</vt:lpstr>
      <vt:lpstr>Request  Response</vt:lpstr>
      <vt:lpstr>Zusammenfassung</vt:lpstr>
      <vt:lpstr>Aufgabe</vt:lpstr>
      <vt:lpstr>Git-Repository</vt:lpstr>
      <vt:lpstr>Selbststudium</vt:lpstr>
      <vt:lpstr>Abschluss</vt:lpstr>
    </vt:vector>
  </TitlesOfParts>
  <Company>Kanton Luzern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Staatskanzlei Luzern</dc:creator>
  <cp:lastModifiedBy>BBZW;FMZ; Wicki Michael (Lehrperson)</cp:lastModifiedBy>
  <cp:revision>9</cp:revision>
  <dcterms:created xsi:type="dcterms:W3CDTF">2021-03-11T13:07:41Z</dcterms:created>
  <dcterms:modified xsi:type="dcterms:W3CDTF">2025-08-25T07:39:51Z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0x010100FBD5B87398E0F546803C08AF34E277D4</vt:lpwstr>
  </property>
  <property fmtid="{D5CDD505-2E9C-101B-9397-08002B2CF9AE}" pid="3" name="MediaServiceImageTags">
    <vt:lpwstr/>
  </property>
</Properties>
</file>